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企业 Agent 市场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2024</c:v>
                </c:pt>
                <c:pt idx="1">
                  <c:v>2025</c:v>
                </c:pt>
                <c:pt idx="2">
                  <c:v>2026E</c:v>
                </c:pt>
                <c:pt idx="3">
                  <c:v>2027E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120</c:v>
                </c:pt>
                <c:pt idx="1">
                  <c:v>280</c:v>
                </c:pt>
                <c:pt idx="2">
                  <c:v>540</c:v>
                </c:pt>
                <c:pt idx="3">
                  <c:v>960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100">
          <a:latin typeface="Microsoft YaHei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733288" y="1371600"/>
            <a:ext cx="731520" cy="731520"/>
          </a:xfrm>
          <a:noFill/>
          <a:ln w="19050">
            <a:solidFill>
              <a:srgbClr val="D4A060"/>
            </a:solidFill>
          </a:ln>
          <a:effectLst/>
          <a:custGeom>
            <a:pathLst>
              <a:path w="100000" h="100000">
                <a:moveTo>
                  <a:pt x="40000" y="14000"/>
                </a:moveTo>
                <a:lnTo>
                  <a:pt x="60000" y="20000"/>
                </a:lnTo>
                <a:lnTo>
                  <a:pt x="58000" y="54000"/>
                </a:lnTo>
                <a:lnTo>
                  <a:pt x="42000" y="54000"/>
                </a:lnTo>
                <a:lnTo>
                  <a:pt x="40000" y="14000"/>
                </a:lnTo>
                <a:close/>
              </a:path>
              <a:path w="100000" h="100000">
                <a:moveTo>
                  <a:pt x="42000" y="54000"/>
                </a:moveTo>
                <a:lnTo>
                  <a:pt x="34000" y="70000"/>
                </a:lnTo>
                <a:lnTo>
                  <a:pt x="44000" y="64000"/>
                </a:lnTo>
              </a:path>
              <a:path w="100000" h="100000">
                <a:moveTo>
                  <a:pt x="58000" y="54000"/>
                </a:moveTo>
                <a:lnTo>
                  <a:pt x="66000" y="70000"/>
                </a:lnTo>
                <a:lnTo>
                  <a:pt x="56000" y="64000"/>
                </a:lnTo>
              </a:path>
              <a:path w="100000" h="100000">
                <a:moveTo>
                  <a:pt x="56000" y="30000"/>
                </a:moveTo>
                <a:lnTo>
                  <a:pt x="55795" y="31552"/>
                </a:lnTo>
                <a:lnTo>
                  <a:pt x="55196" y="33000"/>
                </a:lnTo>
                <a:lnTo>
                  <a:pt x="54242" y="34242"/>
                </a:lnTo>
                <a:lnTo>
                  <a:pt x="53000" y="35196"/>
                </a:lnTo>
                <a:lnTo>
                  <a:pt x="51552" y="35795"/>
                </a:lnTo>
                <a:lnTo>
                  <a:pt x="50000" y="36000"/>
                </a:lnTo>
                <a:lnTo>
                  <a:pt x="48447" y="35795"/>
                </a:lnTo>
                <a:lnTo>
                  <a:pt x="47000" y="35196"/>
                </a:lnTo>
                <a:lnTo>
                  <a:pt x="45757" y="34242"/>
                </a:lnTo>
                <a:lnTo>
                  <a:pt x="44803" y="33000"/>
                </a:lnTo>
                <a:lnTo>
                  <a:pt x="44204" y="31552"/>
                </a:lnTo>
                <a:lnTo>
                  <a:pt x="44000" y="30000"/>
                </a:lnTo>
                <a:lnTo>
                  <a:pt x="44204" y="28447"/>
                </a:lnTo>
                <a:lnTo>
                  <a:pt x="44803" y="27000"/>
                </a:lnTo>
                <a:lnTo>
                  <a:pt x="45757" y="25757"/>
                </a:lnTo>
                <a:lnTo>
                  <a:pt x="47000" y="24803"/>
                </a:lnTo>
                <a:lnTo>
                  <a:pt x="48447" y="24204"/>
                </a:lnTo>
                <a:lnTo>
                  <a:pt x="50000" y="24000"/>
                </a:lnTo>
                <a:lnTo>
                  <a:pt x="51552" y="24204"/>
                </a:lnTo>
                <a:lnTo>
                  <a:pt x="53000" y="24803"/>
                </a:lnTo>
                <a:lnTo>
                  <a:pt x="54242" y="25757"/>
                </a:lnTo>
                <a:lnTo>
                  <a:pt x="55196" y="26999"/>
                </a:lnTo>
                <a:lnTo>
                  <a:pt x="55795" y="28447"/>
                </a:lnTo>
                <a:lnTo>
                  <a:pt x="56000" y="30000"/>
                </a:lnTo>
                <a:close/>
              </a:path>
            </a:pathLst>
          </a:cu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377440"/>
            <a:ext cx="10332720" cy="1371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4600" b="1" i="0">
                <a:solidFill>
                  <a:srgbClr val="D4A060"/>
                </a:solidFill>
                <a:latin typeface="Microsoft YaHei"/>
              </a:rPr>
              <a:t>AI Agent 平台商业计划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840480"/>
            <a:ext cx="1033272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2000" b="0" i="0">
                <a:solidFill>
                  <a:srgbClr val="58A6FF"/>
                </a:solidFill>
                <a:latin typeface="Microsoft YaHei"/>
              </a:rPr>
              <a:t>一站式 AI Agent 商业平台 · 知识管理 · 智能工具 · 团队协作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029200"/>
            <a:ext cx="103327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300" b="0" i="0">
                <a:solidFill>
                  <a:srgbClr val="8B949E"/>
                </a:solidFill>
                <a:latin typeface="Microsoft YaHei"/>
              </a:rPr>
              <a:t>2026 投资人路演 · 免费开源可商用</a:t>
            </a:r>
          </a:p>
        </p:txBody>
      </p:sp>
    </p:spTree>
  </p:cSld>
  <p:clrMapOvr>
    <a:masterClrMapping/>
  </p:clrMapOvr>
  <p:transition xmlns:p14="http://schemas.microsoft.com/office/powerpoint/2010/main" p14:dur="500" advClick="1">
    <p:wipe dir="r"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457200" cy="457200"/>
          </a:xfrm>
          <a:noFill/>
          <a:ln w="19050">
            <a:solidFill>
              <a:srgbClr val="D4A060"/>
            </a:solidFill>
          </a:ln>
          <a:effectLst/>
          <a:custGeom>
            <a:pathLst>
              <a:path w="100000" h="100000">
                <a:moveTo>
                  <a:pt x="30000" y="30000"/>
                </a:moveTo>
                <a:lnTo>
                  <a:pt x="76000" y="30000"/>
                </a:lnTo>
              </a:path>
              <a:path w="100000" h="100000">
                <a:moveTo>
                  <a:pt x="30000" y="50000"/>
                </a:moveTo>
                <a:lnTo>
                  <a:pt x="76000" y="50000"/>
                </a:lnTo>
              </a:path>
              <a:path w="100000" h="100000">
                <a:moveTo>
                  <a:pt x="30000" y="70000"/>
                </a:moveTo>
                <a:lnTo>
                  <a:pt x="76000" y="70000"/>
                </a:lnTo>
              </a:path>
              <a:path w="100000" h="100000">
                <a:moveTo>
                  <a:pt x="24000" y="30000"/>
                </a:moveTo>
                <a:lnTo>
                  <a:pt x="23863" y="31035"/>
                </a:lnTo>
                <a:lnTo>
                  <a:pt x="23464" y="32000"/>
                </a:lnTo>
                <a:lnTo>
                  <a:pt x="22828" y="32828"/>
                </a:lnTo>
                <a:lnTo>
                  <a:pt x="22000" y="33464"/>
                </a:lnTo>
                <a:lnTo>
                  <a:pt x="21035" y="33863"/>
                </a:lnTo>
                <a:lnTo>
                  <a:pt x="20000" y="34000"/>
                </a:lnTo>
                <a:lnTo>
                  <a:pt x="18964" y="33863"/>
                </a:lnTo>
                <a:lnTo>
                  <a:pt x="18000" y="33464"/>
                </a:lnTo>
                <a:lnTo>
                  <a:pt x="17171" y="32828"/>
                </a:lnTo>
                <a:lnTo>
                  <a:pt x="16535" y="32000"/>
                </a:lnTo>
                <a:lnTo>
                  <a:pt x="16136" y="31035"/>
                </a:lnTo>
                <a:lnTo>
                  <a:pt x="16000" y="30000"/>
                </a:lnTo>
                <a:lnTo>
                  <a:pt x="16136" y="28964"/>
                </a:lnTo>
                <a:lnTo>
                  <a:pt x="16535" y="28000"/>
                </a:lnTo>
                <a:lnTo>
                  <a:pt x="17171" y="27171"/>
                </a:lnTo>
                <a:lnTo>
                  <a:pt x="18000" y="26535"/>
                </a:lnTo>
                <a:lnTo>
                  <a:pt x="18964" y="26136"/>
                </a:lnTo>
                <a:lnTo>
                  <a:pt x="20000" y="26000"/>
                </a:lnTo>
                <a:lnTo>
                  <a:pt x="21035" y="26136"/>
                </a:lnTo>
                <a:lnTo>
                  <a:pt x="22000" y="26535"/>
                </a:lnTo>
                <a:lnTo>
                  <a:pt x="22828" y="27171"/>
                </a:lnTo>
                <a:lnTo>
                  <a:pt x="23464" y="28000"/>
                </a:lnTo>
                <a:lnTo>
                  <a:pt x="23863" y="28964"/>
                </a:lnTo>
                <a:lnTo>
                  <a:pt x="24000" y="30000"/>
                </a:lnTo>
                <a:close/>
              </a:path>
              <a:path w="100000" h="100000">
                <a:moveTo>
                  <a:pt x="24000" y="50000"/>
                </a:moveTo>
                <a:lnTo>
                  <a:pt x="23863" y="51035"/>
                </a:lnTo>
                <a:lnTo>
                  <a:pt x="23464" y="52000"/>
                </a:lnTo>
                <a:lnTo>
                  <a:pt x="22828" y="52828"/>
                </a:lnTo>
                <a:lnTo>
                  <a:pt x="22000" y="53464"/>
                </a:lnTo>
                <a:lnTo>
                  <a:pt x="21035" y="53863"/>
                </a:lnTo>
                <a:lnTo>
                  <a:pt x="20000" y="54000"/>
                </a:lnTo>
                <a:lnTo>
                  <a:pt x="18964" y="53863"/>
                </a:lnTo>
                <a:lnTo>
                  <a:pt x="18000" y="53464"/>
                </a:lnTo>
                <a:lnTo>
                  <a:pt x="17171" y="52828"/>
                </a:lnTo>
                <a:lnTo>
                  <a:pt x="16535" y="52000"/>
                </a:lnTo>
                <a:lnTo>
                  <a:pt x="16136" y="51035"/>
                </a:lnTo>
                <a:lnTo>
                  <a:pt x="16000" y="50000"/>
                </a:lnTo>
                <a:lnTo>
                  <a:pt x="16136" y="48964"/>
                </a:lnTo>
                <a:lnTo>
                  <a:pt x="16535" y="48000"/>
                </a:lnTo>
                <a:lnTo>
                  <a:pt x="17171" y="47171"/>
                </a:lnTo>
                <a:lnTo>
                  <a:pt x="18000" y="46535"/>
                </a:lnTo>
                <a:lnTo>
                  <a:pt x="18964" y="46136"/>
                </a:lnTo>
                <a:lnTo>
                  <a:pt x="20000" y="46000"/>
                </a:lnTo>
                <a:lnTo>
                  <a:pt x="21035" y="46136"/>
                </a:lnTo>
                <a:lnTo>
                  <a:pt x="22000" y="46535"/>
                </a:lnTo>
                <a:lnTo>
                  <a:pt x="22828" y="47171"/>
                </a:lnTo>
                <a:lnTo>
                  <a:pt x="23464" y="48000"/>
                </a:lnTo>
                <a:lnTo>
                  <a:pt x="23863" y="48964"/>
                </a:lnTo>
                <a:lnTo>
                  <a:pt x="24000" y="50000"/>
                </a:lnTo>
                <a:close/>
              </a:path>
              <a:path w="100000" h="100000">
                <a:moveTo>
                  <a:pt x="24000" y="70000"/>
                </a:moveTo>
                <a:lnTo>
                  <a:pt x="23863" y="71035"/>
                </a:lnTo>
                <a:lnTo>
                  <a:pt x="23464" y="72000"/>
                </a:lnTo>
                <a:lnTo>
                  <a:pt x="22828" y="72828"/>
                </a:lnTo>
                <a:lnTo>
                  <a:pt x="22000" y="73464"/>
                </a:lnTo>
                <a:lnTo>
                  <a:pt x="21035" y="73863"/>
                </a:lnTo>
                <a:lnTo>
                  <a:pt x="20000" y="74000"/>
                </a:lnTo>
                <a:lnTo>
                  <a:pt x="18964" y="73863"/>
                </a:lnTo>
                <a:lnTo>
                  <a:pt x="18000" y="73464"/>
                </a:lnTo>
                <a:lnTo>
                  <a:pt x="17171" y="72828"/>
                </a:lnTo>
                <a:lnTo>
                  <a:pt x="16535" y="72000"/>
                </a:lnTo>
                <a:lnTo>
                  <a:pt x="16136" y="71035"/>
                </a:lnTo>
                <a:lnTo>
                  <a:pt x="16000" y="70000"/>
                </a:lnTo>
                <a:lnTo>
                  <a:pt x="16136" y="68964"/>
                </a:lnTo>
                <a:lnTo>
                  <a:pt x="16535" y="68000"/>
                </a:lnTo>
                <a:lnTo>
                  <a:pt x="17171" y="67171"/>
                </a:lnTo>
                <a:lnTo>
                  <a:pt x="18000" y="66535"/>
                </a:lnTo>
                <a:lnTo>
                  <a:pt x="18964" y="66136"/>
                </a:lnTo>
                <a:lnTo>
                  <a:pt x="20000" y="66000"/>
                </a:lnTo>
                <a:lnTo>
                  <a:pt x="21035" y="66136"/>
                </a:lnTo>
                <a:lnTo>
                  <a:pt x="22000" y="66535"/>
                </a:lnTo>
                <a:lnTo>
                  <a:pt x="22828" y="67171"/>
                </a:lnTo>
                <a:lnTo>
                  <a:pt x="23464" y="68000"/>
                </a:lnTo>
                <a:lnTo>
                  <a:pt x="23863" y="68964"/>
                </a:lnTo>
                <a:lnTo>
                  <a:pt x="24000" y="70000"/>
                </a:lnTo>
                <a:close/>
              </a:path>
            </a:pathLst>
          </a:cu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365760"/>
            <a:ext cx="1005840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800" b="1" i="0">
                <a:solidFill>
                  <a:srgbClr val="D4A060"/>
                </a:solidFill>
                <a:latin typeface="Microsoft YaHei"/>
              </a:rPr>
              <a:t>目录</a:t>
            </a:r>
          </a:p>
        </p:txBody>
      </p:sp>
      <p:sp>
        <p:nvSpPr>
          <p:cNvPr id="4" name="Rectangle 3"/>
          <p:cNvSpPr/>
          <p:nvPr/>
        </p:nvSpPr>
        <p:spPr>
          <a:xfrm>
            <a:off x="1097280" y="1024128"/>
            <a:ext cx="2011680" cy="54864"/>
          </a:xfrm>
          <a:prstGeom prst="rect">
            <a:avLst/>
          </a:prstGeom>
          <a:solidFill>
            <a:srgbClr val="D4A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64008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000" b="1" i="0">
                <a:solidFill>
                  <a:srgbClr val="58A6FF"/>
                </a:solidFill>
                <a:latin typeface="Microsoft YaHei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54480" y="1554480"/>
            <a:ext cx="96012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Microsoft YaHei"/>
              </a:rPr>
              <a:t>市场机会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157984"/>
            <a:ext cx="10424160" cy="13716"/>
          </a:xfrm>
          <a:prstGeom prst="rect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267712"/>
            <a:ext cx="64008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000" b="1" i="0">
                <a:solidFill>
                  <a:srgbClr val="58A6FF"/>
                </a:solidFill>
                <a:latin typeface="Microsoft YaHei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267712"/>
            <a:ext cx="96012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Microsoft YaHei"/>
              </a:rPr>
              <a:t>产品矩阵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871215"/>
            <a:ext cx="10424160" cy="13716"/>
          </a:xfrm>
          <a:prstGeom prst="rect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2980944"/>
            <a:ext cx="64008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000" b="1" i="0">
                <a:solidFill>
                  <a:srgbClr val="58A6FF"/>
                </a:solidFill>
                <a:latin typeface="Microsoft YaHei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980944"/>
            <a:ext cx="96012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Microsoft YaHei"/>
              </a:rPr>
              <a:t>商业模式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3584448"/>
            <a:ext cx="10424160" cy="13716"/>
          </a:xfrm>
          <a:prstGeom prst="rect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3694176"/>
            <a:ext cx="64008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000" b="1" i="0">
                <a:solidFill>
                  <a:srgbClr val="58A6FF"/>
                </a:solidFill>
                <a:latin typeface="Microsoft YaHei"/>
              </a:rP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3694176"/>
            <a:ext cx="96012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Microsoft YaHei"/>
              </a:rPr>
              <a:t>增长路线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4297680"/>
            <a:ext cx="10424160" cy="13716"/>
          </a:xfrm>
          <a:prstGeom prst="rect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4407408"/>
            <a:ext cx="64008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000" b="1" i="0">
                <a:solidFill>
                  <a:srgbClr val="58A6FF"/>
                </a:solidFill>
                <a:latin typeface="Microsoft YaHei"/>
              </a:rPr>
              <a:t>05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4407408"/>
            <a:ext cx="96012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Microsoft YaHei"/>
              </a:rPr>
              <a:t>团队与融资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5010912"/>
            <a:ext cx="10424160" cy="13716"/>
          </a:xfrm>
          <a:prstGeom prst="rect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900" b="0" i="0">
                <a:solidFill>
                  <a:srgbClr val="8B949E"/>
                </a:solidFill>
                <a:latin typeface="Microsoft YaHei"/>
              </a:rPr>
              <a:t>Reasonix AI · 机密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8B949E"/>
                </a:solidFill>
                <a:latin typeface="Microsoft YaHei"/>
              </a:rPr>
              <a:t>2</a:t>
            </a:r>
          </a:p>
        </p:txBody>
      </p:sp>
    </p:spTree>
  </p:cSld>
  <p:clrMapOvr>
    <a:masterClrMapping/>
  </p:clrMapOvr>
  <p:transition xmlns:p14="http://schemas.microsoft.com/office/powerpoint/2010/main" p14:dur="500" advClick="1">
    <p:push dir="r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834640"/>
            <a:ext cx="12191695" cy="1188720"/>
          </a:xfrm>
          <a:prstGeom prst="rect">
            <a:avLst/>
          </a:prstGeom>
          <a:solidFill>
            <a:srgbClr val="15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34640"/>
            <a:ext cx="164592" cy="1188720"/>
          </a:xfrm>
          <a:prstGeom prst="rect">
            <a:avLst/>
          </a:prstGeom>
          <a:solidFill>
            <a:srgbClr val="D4A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2999232"/>
            <a:ext cx="822960" cy="822960"/>
          </a:xfrm>
          <a:noFill/>
          <a:ln w="19050">
            <a:solidFill>
              <a:srgbClr val="D4A060"/>
            </a:solidFill>
          </a:ln>
          <a:effectLst/>
          <a:custGeom>
            <a:pathLst>
              <a:path w="100000" h="100000">
                <a:moveTo>
                  <a:pt x="30000" y="18000"/>
                </a:moveTo>
                <a:lnTo>
                  <a:pt x="70000" y="18000"/>
                </a:lnTo>
                <a:lnTo>
                  <a:pt x="70000" y="82000"/>
                </a:lnTo>
                <a:lnTo>
                  <a:pt x="50000" y="66000"/>
                </a:lnTo>
                <a:lnTo>
                  <a:pt x="30000" y="82000"/>
                </a:lnTo>
                <a:lnTo>
                  <a:pt x="30000" y="18000"/>
                </a:lnTo>
                <a:close/>
              </a:path>
            </a:pathLst>
          </a:cu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554480" y="2971800"/>
            <a:ext cx="10058400" cy="9144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3400" b="1" i="0">
                <a:solidFill>
                  <a:srgbClr val="D4A060"/>
                </a:solidFill>
                <a:latin typeface="Microsoft YaHei"/>
              </a:rPr>
              <a:t>01 市场机会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54480" y="3886200"/>
            <a:ext cx="100584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0" i="0">
                <a:solidFill>
                  <a:srgbClr val="8B949E"/>
                </a:solidFill>
                <a:latin typeface="Microsoft YaHei"/>
              </a:rPr>
              <a:t>企业智能体需求爆发</a:t>
            </a:r>
          </a:p>
        </p:txBody>
      </p:sp>
    </p:spTree>
  </p:cSld>
  <p:clrMapOvr>
    <a:masterClrMapping/>
  </p:clrMapOvr>
  <p:transition xmlns:p14="http://schemas.microsoft.com/office/powerpoint/2010/main" p14:dur="500" advClick="1">
    <p:split orient="horz" dir="out"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457200" cy="457200"/>
          </a:xfrm>
          <a:noFill/>
          <a:ln w="19050">
            <a:solidFill>
              <a:srgbClr val="D4A060"/>
            </a:solidFill>
          </a:ln>
          <a:effectLst/>
          <a:custGeom>
            <a:pathLst>
              <a:path w="100000" h="100000">
                <a:moveTo>
                  <a:pt x="30000" y="30000"/>
                </a:moveTo>
                <a:lnTo>
                  <a:pt x="76000" y="30000"/>
                </a:lnTo>
              </a:path>
              <a:path w="100000" h="100000">
                <a:moveTo>
                  <a:pt x="30000" y="50000"/>
                </a:moveTo>
                <a:lnTo>
                  <a:pt x="76000" y="50000"/>
                </a:lnTo>
              </a:path>
              <a:path w="100000" h="100000">
                <a:moveTo>
                  <a:pt x="30000" y="70000"/>
                </a:moveTo>
                <a:lnTo>
                  <a:pt x="76000" y="70000"/>
                </a:lnTo>
              </a:path>
              <a:path w="100000" h="100000">
                <a:moveTo>
                  <a:pt x="24000" y="30000"/>
                </a:moveTo>
                <a:lnTo>
                  <a:pt x="23863" y="31035"/>
                </a:lnTo>
                <a:lnTo>
                  <a:pt x="23464" y="32000"/>
                </a:lnTo>
                <a:lnTo>
                  <a:pt x="22828" y="32828"/>
                </a:lnTo>
                <a:lnTo>
                  <a:pt x="22000" y="33464"/>
                </a:lnTo>
                <a:lnTo>
                  <a:pt x="21035" y="33863"/>
                </a:lnTo>
                <a:lnTo>
                  <a:pt x="20000" y="34000"/>
                </a:lnTo>
                <a:lnTo>
                  <a:pt x="18964" y="33863"/>
                </a:lnTo>
                <a:lnTo>
                  <a:pt x="18000" y="33464"/>
                </a:lnTo>
                <a:lnTo>
                  <a:pt x="17171" y="32828"/>
                </a:lnTo>
                <a:lnTo>
                  <a:pt x="16535" y="32000"/>
                </a:lnTo>
                <a:lnTo>
                  <a:pt x="16136" y="31035"/>
                </a:lnTo>
                <a:lnTo>
                  <a:pt x="16000" y="30000"/>
                </a:lnTo>
                <a:lnTo>
                  <a:pt x="16136" y="28964"/>
                </a:lnTo>
                <a:lnTo>
                  <a:pt x="16535" y="28000"/>
                </a:lnTo>
                <a:lnTo>
                  <a:pt x="17171" y="27171"/>
                </a:lnTo>
                <a:lnTo>
                  <a:pt x="18000" y="26535"/>
                </a:lnTo>
                <a:lnTo>
                  <a:pt x="18964" y="26136"/>
                </a:lnTo>
                <a:lnTo>
                  <a:pt x="20000" y="26000"/>
                </a:lnTo>
                <a:lnTo>
                  <a:pt x="21035" y="26136"/>
                </a:lnTo>
                <a:lnTo>
                  <a:pt x="22000" y="26535"/>
                </a:lnTo>
                <a:lnTo>
                  <a:pt x="22828" y="27171"/>
                </a:lnTo>
                <a:lnTo>
                  <a:pt x="23464" y="28000"/>
                </a:lnTo>
                <a:lnTo>
                  <a:pt x="23863" y="28964"/>
                </a:lnTo>
                <a:lnTo>
                  <a:pt x="24000" y="30000"/>
                </a:lnTo>
                <a:close/>
              </a:path>
              <a:path w="100000" h="100000">
                <a:moveTo>
                  <a:pt x="24000" y="50000"/>
                </a:moveTo>
                <a:lnTo>
                  <a:pt x="23863" y="51035"/>
                </a:lnTo>
                <a:lnTo>
                  <a:pt x="23464" y="52000"/>
                </a:lnTo>
                <a:lnTo>
                  <a:pt x="22828" y="52828"/>
                </a:lnTo>
                <a:lnTo>
                  <a:pt x="22000" y="53464"/>
                </a:lnTo>
                <a:lnTo>
                  <a:pt x="21035" y="53863"/>
                </a:lnTo>
                <a:lnTo>
                  <a:pt x="20000" y="54000"/>
                </a:lnTo>
                <a:lnTo>
                  <a:pt x="18964" y="53863"/>
                </a:lnTo>
                <a:lnTo>
                  <a:pt x="18000" y="53464"/>
                </a:lnTo>
                <a:lnTo>
                  <a:pt x="17171" y="52828"/>
                </a:lnTo>
                <a:lnTo>
                  <a:pt x="16535" y="52000"/>
                </a:lnTo>
                <a:lnTo>
                  <a:pt x="16136" y="51035"/>
                </a:lnTo>
                <a:lnTo>
                  <a:pt x="16000" y="50000"/>
                </a:lnTo>
                <a:lnTo>
                  <a:pt x="16136" y="48964"/>
                </a:lnTo>
                <a:lnTo>
                  <a:pt x="16535" y="48000"/>
                </a:lnTo>
                <a:lnTo>
                  <a:pt x="17171" y="47171"/>
                </a:lnTo>
                <a:lnTo>
                  <a:pt x="18000" y="46535"/>
                </a:lnTo>
                <a:lnTo>
                  <a:pt x="18964" y="46136"/>
                </a:lnTo>
                <a:lnTo>
                  <a:pt x="20000" y="46000"/>
                </a:lnTo>
                <a:lnTo>
                  <a:pt x="21035" y="46136"/>
                </a:lnTo>
                <a:lnTo>
                  <a:pt x="22000" y="46535"/>
                </a:lnTo>
                <a:lnTo>
                  <a:pt x="22828" y="47171"/>
                </a:lnTo>
                <a:lnTo>
                  <a:pt x="23464" y="48000"/>
                </a:lnTo>
                <a:lnTo>
                  <a:pt x="23863" y="48964"/>
                </a:lnTo>
                <a:lnTo>
                  <a:pt x="24000" y="50000"/>
                </a:lnTo>
                <a:close/>
              </a:path>
              <a:path w="100000" h="100000">
                <a:moveTo>
                  <a:pt x="24000" y="70000"/>
                </a:moveTo>
                <a:lnTo>
                  <a:pt x="23863" y="71035"/>
                </a:lnTo>
                <a:lnTo>
                  <a:pt x="23464" y="72000"/>
                </a:lnTo>
                <a:lnTo>
                  <a:pt x="22828" y="72828"/>
                </a:lnTo>
                <a:lnTo>
                  <a:pt x="22000" y="73464"/>
                </a:lnTo>
                <a:lnTo>
                  <a:pt x="21035" y="73863"/>
                </a:lnTo>
                <a:lnTo>
                  <a:pt x="20000" y="74000"/>
                </a:lnTo>
                <a:lnTo>
                  <a:pt x="18964" y="73863"/>
                </a:lnTo>
                <a:lnTo>
                  <a:pt x="18000" y="73464"/>
                </a:lnTo>
                <a:lnTo>
                  <a:pt x="17171" y="72828"/>
                </a:lnTo>
                <a:lnTo>
                  <a:pt x="16535" y="72000"/>
                </a:lnTo>
                <a:lnTo>
                  <a:pt x="16136" y="71035"/>
                </a:lnTo>
                <a:lnTo>
                  <a:pt x="16000" y="70000"/>
                </a:lnTo>
                <a:lnTo>
                  <a:pt x="16136" y="68964"/>
                </a:lnTo>
                <a:lnTo>
                  <a:pt x="16535" y="68000"/>
                </a:lnTo>
                <a:lnTo>
                  <a:pt x="17171" y="67171"/>
                </a:lnTo>
                <a:lnTo>
                  <a:pt x="18000" y="66535"/>
                </a:lnTo>
                <a:lnTo>
                  <a:pt x="18964" y="66136"/>
                </a:lnTo>
                <a:lnTo>
                  <a:pt x="20000" y="66000"/>
                </a:lnTo>
                <a:lnTo>
                  <a:pt x="21035" y="66136"/>
                </a:lnTo>
                <a:lnTo>
                  <a:pt x="22000" y="66535"/>
                </a:lnTo>
                <a:lnTo>
                  <a:pt x="22828" y="67171"/>
                </a:lnTo>
                <a:lnTo>
                  <a:pt x="23464" y="68000"/>
                </a:lnTo>
                <a:lnTo>
                  <a:pt x="23863" y="68964"/>
                </a:lnTo>
                <a:lnTo>
                  <a:pt x="24000" y="70000"/>
                </a:lnTo>
                <a:close/>
              </a:path>
            </a:pathLst>
          </a:cu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365760"/>
            <a:ext cx="1005840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800" b="1" i="0">
                <a:solidFill>
                  <a:srgbClr val="D4A060"/>
                </a:solidFill>
                <a:latin typeface="Microsoft YaHei"/>
              </a:rPr>
              <a:t>为什么是现在</a:t>
            </a:r>
          </a:p>
        </p:txBody>
      </p:sp>
      <p:sp>
        <p:nvSpPr>
          <p:cNvPr id="4" name="Rectangle 3"/>
          <p:cNvSpPr/>
          <p:nvPr/>
        </p:nvSpPr>
        <p:spPr>
          <a:xfrm>
            <a:off x="1097280" y="1024128"/>
            <a:ext cx="2011680" cy="54864"/>
          </a:xfrm>
          <a:prstGeom prst="rect">
            <a:avLst/>
          </a:prstGeom>
          <a:solidFill>
            <a:srgbClr val="D4A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1664207"/>
            <a:ext cx="109728" cy="109728"/>
          </a:xfrm>
          <a:prstGeom prst="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554480"/>
            <a:ext cx="10241280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Microsoft YaHei"/>
              </a:rPr>
              <a:t>企业知识孤岛严重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938528"/>
            <a:ext cx="102412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0" i="0">
                <a:solidFill>
                  <a:srgbClr val="8B949E"/>
                </a:solidFill>
                <a:latin typeface="Microsoft YaHei"/>
              </a:rPr>
              <a:t> 80% 内部文档无法被检索调用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2231136"/>
            <a:ext cx="109728" cy="109728"/>
          </a:xfrm>
          <a:prstGeom prst="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121408"/>
            <a:ext cx="10241280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Microsoft YaHei"/>
              </a:rPr>
              <a:t>人工流程成本高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505456"/>
            <a:ext cx="102412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0" i="0">
                <a:solidFill>
                  <a:srgbClr val="8B949E"/>
                </a:solidFill>
                <a:latin typeface="Microsoft YaHei"/>
              </a:rPr>
              <a:t> 重复性办公任务占工时 40%+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798064"/>
            <a:ext cx="109728" cy="109728"/>
          </a:xfrm>
          <a:prstGeom prst="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688336"/>
            <a:ext cx="10241280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Microsoft YaHei"/>
              </a:rPr>
              <a:t>大模型能力成熟 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072384"/>
            <a:ext cx="102412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0" i="0">
                <a:solidFill>
                  <a:srgbClr val="8B949E"/>
                </a:solidFill>
                <a:latin typeface="Microsoft YaHei"/>
              </a:rPr>
              <a:t> 多模态 + 长上下文让 Agent 可落地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900" b="0" i="0">
                <a:solidFill>
                  <a:srgbClr val="8B949E"/>
                </a:solidFill>
                <a:latin typeface="Microsoft YaHei"/>
              </a:rPr>
              <a:t>Reasonix AI · 机密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8B949E"/>
                </a:solidFill>
                <a:latin typeface="Microsoft YaHei"/>
              </a:rPr>
              <a:t>4</a:t>
            </a:r>
          </a:p>
        </p:txBody>
      </p:sp>
    </p:spTree>
  </p:cSld>
  <p:clrMapOvr>
    <a:masterClrMapping/>
  </p:clrMapOvr>
  <p:transition xmlns:p14="http://schemas.microsoft.com/office/powerpoint/2010/main" p14:dur="500" advClick="1">
    <p:cover dir="r"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457200" cy="457200"/>
          </a:xfrm>
          <a:noFill/>
          <a:ln w="19050">
            <a:solidFill>
              <a:srgbClr val="D4A060"/>
            </a:solidFill>
          </a:ln>
          <a:effectLst/>
          <a:custGeom>
            <a:pathLst>
              <a:path w="100000" h="100000">
                <a:moveTo>
                  <a:pt x="20000" y="74000"/>
                </a:moveTo>
                <a:lnTo>
                  <a:pt x="20000" y="26000"/>
                </a:lnTo>
              </a:path>
              <a:path w="100000" h="100000">
                <a:moveTo>
                  <a:pt x="20000" y="74000"/>
                </a:moveTo>
                <a:lnTo>
                  <a:pt x="80000" y="74000"/>
                </a:lnTo>
              </a:path>
              <a:path w="100000" h="100000">
                <a:moveTo>
                  <a:pt x="30000" y="74000"/>
                </a:moveTo>
                <a:lnTo>
                  <a:pt x="30000" y="50000"/>
                </a:lnTo>
              </a:path>
              <a:path w="100000" h="100000">
                <a:moveTo>
                  <a:pt x="46000" y="74000"/>
                </a:moveTo>
                <a:lnTo>
                  <a:pt x="46000" y="36000"/>
                </a:lnTo>
              </a:path>
              <a:path w="100000" h="100000">
                <a:moveTo>
                  <a:pt x="62000" y="74000"/>
                </a:moveTo>
                <a:lnTo>
                  <a:pt x="62000" y="56000"/>
                </a:lnTo>
              </a:path>
              <a:path w="100000" h="100000">
                <a:moveTo>
                  <a:pt x="78000" y="74000"/>
                </a:moveTo>
                <a:lnTo>
                  <a:pt x="78000" y="30000"/>
                </a:lnTo>
              </a:path>
            </a:pathLst>
          </a:cu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365760"/>
            <a:ext cx="1005840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800" b="1" i="0">
                <a:solidFill>
                  <a:srgbClr val="D4A060"/>
                </a:solidFill>
                <a:latin typeface="Microsoft YaHei"/>
              </a:rPr>
              <a:t>市场规模 (亿美元)</a:t>
            </a:r>
          </a:p>
        </p:txBody>
      </p:sp>
      <p:sp>
        <p:nvSpPr>
          <p:cNvPr id="4" name="Rectangle 3"/>
          <p:cNvSpPr/>
          <p:nvPr/>
        </p:nvSpPr>
        <p:spPr>
          <a:xfrm>
            <a:off x="1097280" y="1024128"/>
            <a:ext cx="2011680" cy="54864"/>
          </a:xfrm>
          <a:prstGeom prst="rect">
            <a:avLst/>
          </a:prstGeom>
          <a:solidFill>
            <a:srgbClr val="D4A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731520" y="1645920"/>
          <a:ext cx="1069848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900" b="0" i="0">
                <a:solidFill>
                  <a:srgbClr val="8B949E"/>
                </a:solidFill>
                <a:latin typeface="Microsoft YaHei"/>
              </a:rPr>
              <a:t>Reasonix AI · 机密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8B949E"/>
                </a:solidFill>
                <a:latin typeface="Microsoft YaHei"/>
              </a:rPr>
              <a:t>5</a:t>
            </a:r>
          </a:p>
        </p:txBody>
      </p:sp>
    </p:spTree>
  </p:cSld>
  <p:clrMapOvr>
    <a:masterClrMapping/>
  </p:clrMapOvr>
  <p:transition xmlns:p14="http://schemas.microsoft.com/office/powerpoint/2010/main" p14:dur="500" advClick="1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834640"/>
            <a:ext cx="12191695" cy="1188720"/>
          </a:xfrm>
          <a:prstGeom prst="rect">
            <a:avLst/>
          </a:prstGeom>
          <a:solidFill>
            <a:srgbClr val="15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34640"/>
            <a:ext cx="164592" cy="1188720"/>
          </a:xfrm>
          <a:prstGeom prst="rect">
            <a:avLst/>
          </a:prstGeom>
          <a:solidFill>
            <a:srgbClr val="D4A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2999232"/>
            <a:ext cx="822960" cy="822960"/>
          </a:xfrm>
          <a:noFill/>
          <a:ln w="19050">
            <a:solidFill>
              <a:srgbClr val="D4A060"/>
            </a:solidFill>
          </a:ln>
          <a:effectLst/>
          <a:custGeom>
            <a:pathLst>
              <a:path w="100000" h="100000">
                <a:moveTo>
                  <a:pt x="30000" y="18000"/>
                </a:moveTo>
                <a:lnTo>
                  <a:pt x="70000" y="18000"/>
                </a:lnTo>
                <a:lnTo>
                  <a:pt x="70000" y="82000"/>
                </a:lnTo>
                <a:lnTo>
                  <a:pt x="50000" y="66000"/>
                </a:lnTo>
                <a:lnTo>
                  <a:pt x="30000" y="82000"/>
                </a:lnTo>
                <a:lnTo>
                  <a:pt x="30000" y="18000"/>
                </a:lnTo>
                <a:close/>
              </a:path>
            </a:pathLst>
          </a:cu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554480" y="2971800"/>
            <a:ext cx="10058400" cy="9144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3400" b="1" i="0">
                <a:solidFill>
                  <a:srgbClr val="D4A060"/>
                </a:solidFill>
                <a:latin typeface="Microsoft YaHei"/>
              </a:rPr>
              <a:t>02 产品矩阵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54480" y="3886200"/>
            <a:ext cx="100584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0" i="0">
                <a:solidFill>
                  <a:srgbClr val="8B949E"/>
                </a:solidFill>
                <a:latin typeface="Microsoft YaHei"/>
              </a:rPr>
              <a:t>四层一体化平台</a:t>
            </a:r>
          </a:p>
        </p:txBody>
      </p:sp>
    </p:spTree>
  </p:cSld>
  <p:clrMapOvr>
    <a:masterClrMapping/>
  </p:clrMapOvr>
  <p:transition xmlns:p14="http://schemas.microsoft.com/office/powerpoint/2010/main" p14:dur="500" advClick="1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457200" cy="457200"/>
          </a:xfrm>
          <a:noFill/>
          <a:ln w="19050">
            <a:solidFill>
              <a:srgbClr val="D4A060"/>
            </a:solidFill>
          </a:ln>
          <a:effectLst/>
          <a:custGeom>
            <a:pathLst>
              <a:path w="100000" h="100000">
                <a:moveTo>
                  <a:pt x="24000" y="24000"/>
                </a:moveTo>
                <a:lnTo>
                  <a:pt x="46000" y="24000"/>
                </a:lnTo>
                <a:lnTo>
                  <a:pt x="46000" y="76000"/>
                </a:lnTo>
                <a:lnTo>
                  <a:pt x="24000" y="76000"/>
                </a:lnTo>
                <a:lnTo>
                  <a:pt x="24000" y="24000"/>
                </a:lnTo>
                <a:close/>
              </a:path>
              <a:path w="100000" h="100000">
                <a:moveTo>
                  <a:pt x="54000" y="24000"/>
                </a:moveTo>
                <a:lnTo>
                  <a:pt x="76000" y="24000"/>
                </a:lnTo>
                <a:lnTo>
                  <a:pt x="76000" y="76000"/>
                </a:lnTo>
                <a:lnTo>
                  <a:pt x="54000" y="76000"/>
                </a:lnTo>
                <a:lnTo>
                  <a:pt x="54000" y="24000"/>
                </a:lnTo>
                <a:close/>
              </a:path>
            </a:pathLst>
          </a:cu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365760"/>
            <a:ext cx="1005840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800" b="1" i="0">
                <a:solidFill>
                  <a:srgbClr val="D4A060"/>
                </a:solidFill>
                <a:latin typeface="Microsoft YaHei"/>
              </a:rPr>
              <a:t>产品矩阵</a:t>
            </a:r>
          </a:p>
        </p:txBody>
      </p:sp>
      <p:sp>
        <p:nvSpPr>
          <p:cNvPr id="4" name="Rectangle 3"/>
          <p:cNvSpPr/>
          <p:nvPr/>
        </p:nvSpPr>
        <p:spPr>
          <a:xfrm>
            <a:off x="1097280" y="1024128"/>
            <a:ext cx="2011680" cy="54864"/>
          </a:xfrm>
          <a:prstGeom prst="rect">
            <a:avLst/>
          </a:prstGeom>
          <a:solidFill>
            <a:srgbClr val="D4A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554480"/>
            <a:ext cx="5394960" cy="4389120"/>
          </a:xfrm>
          <a:prstGeom prst="rect">
            <a:avLst/>
          </a:prstGeom>
          <a:solidFill>
            <a:srgbClr val="15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17920" y="1554480"/>
            <a:ext cx="5394960" cy="4389120"/>
          </a:xfrm>
          <a:prstGeom prst="rect">
            <a:avLst/>
          </a:prstGeom>
          <a:solidFill>
            <a:srgbClr val="15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737360"/>
            <a:ext cx="48463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1" i="0">
                <a:solidFill>
                  <a:srgbClr val="D4A060"/>
                </a:solidFill>
                <a:latin typeface="Microsoft YaHei"/>
              </a:rPr>
              <a:t>能力层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737360"/>
            <a:ext cx="48463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1" i="0">
                <a:solidFill>
                  <a:srgbClr val="D4A060"/>
                </a:solidFill>
                <a:latin typeface="Microsoft YaHei"/>
              </a:rPr>
              <a:t>交付层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2395728"/>
            <a:ext cx="109728" cy="109728"/>
          </a:xfrm>
          <a:prstGeom prst="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2286000"/>
            <a:ext cx="4572000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Microsoft YaHei"/>
              </a:rPr>
              <a:t>知识中枢 RAG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944368"/>
            <a:ext cx="109728" cy="109728"/>
          </a:xfrm>
          <a:prstGeom prst="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834640"/>
            <a:ext cx="4572000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Microsoft YaHei"/>
              </a:rPr>
              <a:t>多模型调度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3493008"/>
            <a:ext cx="109728" cy="109728"/>
          </a:xfrm>
          <a:prstGeom prst="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3383280"/>
            <a:ext cx="4572000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Microsoft YaHei"/>
              </a:rPr>
              <a:t>MCP 插件市场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4041648"/>
            <a:ext cx="109728" cy="109728"/>
          </a:xfrm>
          <a:prstGeom prst="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3931920"/>
            <a:ext cx="4572000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Microsoft YaHei"/>
              </a:rPr>
              <a:t>技能编排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92240" y="2395728"/>
            <a:ext cx="109728" cy="109728"/>
          </a:xfrm>
          <a:prstGeom prst="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66559" y="2286000"/>
            <a:ext cx="4572000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Microsoft YaHei"/>
              </a:rPr>
              <a:t>AI 对话框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92240" y="2944368"/>
            <a:ext cx="109728" cy="109728"/>
          </a:xfrm>
          <a:prstGeom prst="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66559" y="2834640"/>
            <a:ext cx="4572000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Microsoft YaHei"/>
              </a:rPr>
              <a:t>学习中心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92240" y="3493008"/>
            <a:ext cx="109728" cy="109728"/>
          </a:xfrm>
          <a:prstGeom prst="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66559" y="3383280"/>
            <a:ext cx="4572000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Microsoft YaHei"/>
              </a:rPr>
              <a:t>创作工坊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92240" y="4041648"/>
            <a:ext cx="109728" cy="109728"/>
          </a:xfrm>
          <a:prstGeom prst="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66559" y="3931920"/>
            <a:ext cx="4572000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Microsoft YaHei"/>
              </a:rPr>
              <a:t>企业版 RBAC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900" b="0" i="0">
                <a:solidFill>
                  <a:srgbClr val="8B949E"/>
                </a:solidFill>
                <a:latin typeface="Microsoft YaHei"/>
              </a:rPr>
              <a:t>Reasonix AI · 机密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8B949E"/>
                </a:solidFill>
                <a:latin typeface="Microsoft YaHei"/>
              </a:rPr>
              <a:t>7</a:t>
            </a:r>
          </a:p>
        </p:txBody>
      </p:sp>
    </p:spTree>
  </p:cSld>
  <p:clrMapOvr>
    <a:masterClrMapping/>
  </p:clrMapOvr>
  <p:transition xmlns:p14="http://schemas.microsoft.com/office/powerpoint/2010/main" p14:dur="500" advClick="1">
    <p:random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457200" cy="457200"/>
          </a:xfrm>
          <a:noFill/>
          <a:ln w="19050">
            <a:solidFill>
              <a:srgbClr val="D4A060"/>
            </a:solidFill>
          </a:ln>
          <a:effectLst/>
          <a:custGeom>
            <a:pathLst>
              <a:path w="100000" h="100000">
                <a:moveTo>
                  <a:pt x="84000" y="50000"/>
                </a:moveTo>
                <a:lnTo>
                  <a:pt x="82841" y="58799"/>
                </a:lnTo>
                <a:lnTo>
                  <a:pt x="79444" y="67000"/>
                </a:lnTo>
                <a:lnTo>
                  <a:pt x="74041" y="74041"/>
                </a:lnTo>
                <a:lnTo>
                  <a:pt x="67000" y="79444"/>
                </a:lnTo>
                <a:lnTo>
                  <a:pt x="58799" y="82841"/>
                </a:lnTo>
                <a:lnTo>
                  <a:pt x="50000" y="84000"/>
                </a:lnTo>
                <a:lnTo>
                  <a:pt x="41200" y="82841"/>
                </a:lnTo>
                <a:lnTo>
                  <a:pt x="33000" y="79444"/>
                </a:lnTo>
                <a:lnTo>
                  <a:pt x="25958" y="74041"/>
                </a:lnTo>
                <a:lnTo>
                  <a:pt x="20555" y="67000"/>
                </a:lnTo>
                <a:lnTo>
                  <a:pt x="17158" y="58799"/>
                </a:lnTo>
                <a:lnTo>
                  <a:pt x="16000" y="50000"/>
                </a:lnTo>
                <a:lnTo>
                  <a:pt x="17158" y="41200"/>
                </a:lnTo>
                <a:lnTo>
                  <a:pt x="20555" y="33000"/>
                </a:lnTo>
                <a:lnTo>
                  <a:pt x="25958" y="25958"/>
                </a:lnTo>
                <a:lnTo>
                  <a:pt x="32999" y="20555"/>
                </a:lnTo>
                <a:lnTo>
                  <a:pt x="41200" y="17158"/>
                </a:lnTo>
                <a:lnTo>
                  <a:pt x="49999" y="16000"/>
                </a:lnTo>
                <a:lnTo>
                  <a:pt x="58799" y="17158"/>
                </a:lnTo>
                <a:lnTo>
                  <a:pt x="67000" y="20555"/>
                </a:lnTo>
                <a:lnTo>
                  <a:pt x="74041" y="25958"/>
                </a:lnTo>
                <a:lnTo>
                  <a:pt x="79444" y="32999"/>
                </a:lnTo>
                <a:lnTo>
                  <a:pt x="82841" y="41200"/>
                </a:lnTo>
                <a:lnTo>
                  <a:pt x="84000" y="50000"/>
                </a:lnTo>
                <a:close/>
              </a:path>
              <a:path w="100000" h="100000">
                <a:moveTo>
                  <a:pt x="50000" y="50000"/>
                </a:moveTo>
                <a:lnTo>
                  <a:pt x="50000" y="26000"/>
                </a:lnTo>
              </a:path>
              <a:path w="100000" h="100000">
                <a:moveTo>
                  <a:pt x="50000" y="50000"/>
                </a:moveTo>
                <a:lnTo>
                  <a:pt x="70000" y="50000"/>
                </a:lnTo>
              </a:path>
            </a:pathLst>
          </a:cu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365760"/>
            <a:ext cx="1005840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800" b="1" i="0">
                <a:solidFill>
                  <a:srgbClr val="D4A060"/>
                </a:solidFill>
                <a:latin typeface="Microsoft YaHei"/>
              </a:rPr>
              <a:t>增长路线</a:t>
            </a:r>
          </a:p>
        </p:txBody>
      </p:sp>
      <p:sp>
        <p:nvSpPr>
          <p:cNvPr id="4" name="Rectangle 3"/>
          <p:cNvSpPr/>
          <p:nvPr/>
        </p:nvSpPr>
        <p:spPr>
          <a:xfrm>
            <a:off x="1097280" y="1024128"/>
            <a:ext cx="2011680" cy="54864"/>
          </a:xfrm>
          <a:prstGeom prst="rect">
            <a:avLst/>
          </a:prstGeom>
          <a:solidFill>
            <a:srgbClr val="D4A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3657600"/>
            <a:ext cx="10332720" cy="36576"/>
          </a:xfrm>
          <a:prstGeom prst="rect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123694" y="3593592"/>
            <a:ext cx="164592" cy="164592"/>
          </a:xfrm>
          <a:prstGeom prst="rect">
            <a:avLst/>
          </a:prstGeom>
          <a:solidFill>
            <a:srgbClr val="D4A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8710" y="2651760"/>
            <a:ext cx="219456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300" b="1" i="0">
                <a:solidFill>
                  <a:srgbClr val="D4A060"/>
                </a:solidFill>
                <a:latin typeface="Microsoft YaHei"/>
              </a:rPr>
              <a:t>P1 MVP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8710" y="3794760"/>
            <a:ext cx="219456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100" b="0" i="0">
                <a:solidFill>
                  <a:srgbClr val="8B949E"/>
                </a:solidFill>
                <a:latin typeface="Microsoft YaHei"/>
              </a:rPr>
              <a:t>知识库+对话+RAG</a:t>
            </a:r>
          </a:p>
        </p:txBody>
      </p:sp>
      <p:sp>
        <p:nvSpPr>
          <p:cNvPr id="9" name="Rectangle 8"/>
          <p:cNvSpPr/>
          <p:nvPr/>
        </p:nvSpPr>
        <p:spPr>
          <a:xfrm>
            <a:off x="4706874" y="3593592"/>
            <a:ext cx="164592" cy="164592"/>
          </a:xfrm>
          <a:prstGeom prst="rect">
            <a:avLst/>
          </a:prstGeom>
          <a:solidFill>
            <a:srgbClr val="D4A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91890" y="2651760"/>
            <a:ext cx="219456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300" b="1" i="0">
                <a:solidFill>
                  <a:srgbClr val="D4A060"/>
                </a:solidFill>
                <a:latin typeface="Microsoft YaHei"/>
              </a:rPr>
              <a:t>P2 生态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91890" y="3794760"/>
            <a:ext cx="219456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100" b="0" i="0">
                <a:solidFill>
                  <a:srgbClr val="8B949E"/>
                </a:solidFill>
                <a:latin typeface="Microsoft YaHei"/>
              </a:rPr>
              <a:t>学习路径+MCP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290054" y="3593592"/>
            <a:ext cx="164592" cy="164592"/>
          </a:xfrm>
          <a:prstGeom prst="rect">
            <a:avLst/>
          </a:prstGeom>
          <a:solidFill>
            <a:srgbClr val="D4A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75070" y="2651760"/>
            <a:ext cx="219456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300" b="1" i="0">
                <a:solidFill>
                  <a:srgbClr val="D4A060"/>
                </a:solidFill>
                <a:latin typeface="Microsoft YaHei"/>
              </a:rPr>
              <a:t>P3 企业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75070" y="3794760"/>
            <a:ext cx="219456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100" b="0" i="0">
                <a:solidFill>
                  <a:srgbClr val="8B949E"/>
                </a:solidFill>
                <a:latin typeface="Microsoft YaHei"/>
              </a:rPr>
              <a:t>知识图谱+沙盒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873234" y="3593592"/>
            <a:ext cx="164592" cy="164592"/>
          </a:xfrm>
          <a:prstGeom prst="rect">
            <a:avLst/>
          </a:prstGeom>
          <a:solidFill>
            <a:srgbClr val="D4A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58250" y="2651760"/>
            <a:ext cx="219456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300" b="1" i="0">
                <a:solidFill>
                  <a:srgbClr val="D4A060"/>
                </a:solidFill>
                <a:latin typeface="Microsoft YaHei"/>
              </a:rPr>
              <a:t>P4 桌面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58250" y="3794760"/>
            <a:ext cx="219456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100" b="0" i="0">
                <a:solidFill>
                  <a:srgbClr val="8B949E"/>
                </a:solidFill>
                <a:latin typeface="Microsoft YaHei"/>
              </a:rPr>
              <a:t>Tauri+出海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900" b="0" i="0">
                <a:solidFill>
                  <a:srgbClr val="8B949E"/>
                </a:solidFill>
                <a:latin typeface="Microsoft YaHei"/>
              </a:rPr>
              <a:t>Reasonix AI · 机密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8B949E"/>
                </a:solidFill>
                <a:latin typeface="Microsoft YaHei"/>
              </a:rPr>
              <a:t>8</a:t>
            </a:r>
          </a:p>
        </p:txBody>
      </p:sp>
    </p:spTree>
  </p:cSld>
  <p:clrMapOvr>
    <a:masterClrMapping/>
  </p:clrMapOvr>
  <p:transition xmlns:p14="http://schemas.microsoft.com/office/powerpoint/2010/main" p14:dur="500" advClick="1">
    <p:strips dir="rd"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457200" cy="457200"/>
          </a:xfrm>
          <a:noFill/>
          <a:ln w="19050">
            <a:solidFill>
              <a:srgbClr val="D4A060"/>
            </a:solidFill>
          </a:ln>
          <a:effectLst/>
          <a:custGeom>
            <a:pathLst>
              <a:path w="100000" h="100000">
                <a:moveTo>
                  <a:pt x="20000" y="28000"/>
                </a:moveTo>
                <a:lnTo>
                  <a:pt x="80000" y="28000"/>
                </a:lnTo>
                <a:lnTo>
                  <a:pt x="80000" y="72000"/>
                </a:lnTo>
                <a:lnTo>
                  <a:pt x="20000" y="72000"/>
                </a:lnTo>
                <a:lnTo>
                  <a:pt x="20000" y="28000"/>
                </a:lnTo>
                <a:close/>
              </a:path>
              <a:path w="100000" h="100000">
                <a:moveTo>
                  <a:pt x="20000" y="48000"/>
                </a:moveTo>
                <a:lnTo>
                  <a:pt x="80000" y="48000"/>
                </a:lnTo>
              </a:path>
              <a:path w="100000" h="100000">
                <a:moveTo>
                  <a:pt x="44000" y="28000"/>
                </a:moveTo>
                <a:lnTo>
                  <a:pt x="44000" y="72000"/>
                </a:lnTo>
              </a:path>
              <a:path w="100000" h="100000">
                <a:moveTo>
                  <a:pt x="62000" y="28000"/>
                </a:moveTo>
                <a:lnTo>
                  <a:pt x="62000" y="72000"/>
                </a:lnTo>
              </a:path>
            </a:pathLst>
          </a:cu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365760"/>
            <a:ext cx="1005840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800" b="1" i="0">
                <a:solidFill>
                  <a:srgbClr val="D4A060"/>
                </a:solidFill>
                <a:latin typeface="Microsoft YaHei"/>
              </a:rPr>
              <a:t>商业模式对比</a:t>
            </a:r>
          </a:p>
        </p:txBody>
      </p:sp>
      <p:sp>
        <p:nvSpPr>
          <p:cNvPr id="4" name="Rectangle 3"/>
          <p:cNvSpPr/>
          <p:nvPr/>
        </p:nvSpPr>
        <p:spPr>
          <a:xfrm>
            <a:off x="1097280" y="1024128"/>
            <a:ext cx="2011680" cy="54864"/>
          </a:xfrm>
          <a:prstGeom prst="rect">
            <a:avLst/>
          </a:prstGeom>
          <a:solidFill>
            <a:srgbClr val="D4A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554480"/>
          <a:ext cx="1106424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1097280">
                <a:tc>
                  <a:txBody>
                    <a:bodyPr wrap="square">
                      <a:normAutofit/>
                    </a:bodyPr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</a:rPr>
                        <a:t>层级</a:t>
                      </a:r>
                    </a:p>
                  </a:txBody>
                  <a:tcPr>
                    <a:solidFill>
                      <a:srgbClr val="D4A060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</a:rPr>
                        <a:t>对象</a:t>
                      </a:r>
                    </a:p>
                  </a:txBody>
                  <a:tcPr>
                    <a:solidFill>
                      <a:srgbClr val="D4A060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</a:rPr>
                        <a:t>ARPU</a:t>
                      </a:r>
                    </a:p>
                  </a:txBody>
                  <a:tcPr>
                    <a:solidFill>
                      <a:srgbClr val="D4A060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</a:rPr>
                        <a:t>毛利</a:t>
                      </a:r>
                    </a:p>
                  </a:txBody>
                  <a:tcPr>
                    <a:solidFill>
                      <a:srgbClr val="D4A060"/>
                    </a:solidFill>
                  </a:tcPr>
                </a:tc>
              </a:tr>
              <a:tr h="1097280">
                <a:tc>
                  <a:txBody>
                    <a:bodyPr wrap="square">
                      <a:normAutofit/>
                    </a:bodyPr>
                    <a:lstStyle/>
                    <a:p>
                      <a:pPr algn="l"/>
                      <a:r>
                        <a:rPr sz="1200" b="0">
                          <a:solidFill>
                            <a:srgbClr val="FFFFFF"/>
                          </a:solidFill>
                          <a:latin typeface="Microsoft YaHei"/>
                        </a:rPr>
                        <a:t>免费</a:t>
                      </a:r>
                    </a:p>
                  </a:txBody>
                  <a:tcPr>
                    <a:solidFill>
                      <a:srgbClr val="151D2E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/>
                      <a:r>
                        <a:rPr sz="1200" b="0">
                          <a:solidFill>
                            <a:srgbClr val="FFFFFF"/>
                          </a:solidFill>
                          <a:latin typeface="Microsoft YaHei"/>
                        </a:rPr>
                        <a:t>个人</a:t>
                      </a:r>
                    </a:p>
                  </a:txBody>
                  <a:tcPr>
                    <a:solidFill>
                      <a:srgbClr val="151D2E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/>
                      <a:r>
                        <a:rPr sz="1200" b="0">
                          <a:solidFill>
                            <a:srgbClr val="FFFFFF"/>
                          </a:solidFill>
                          <a:latin typeface="Microsoft YaHei"/>
                        </a:rPr>
                        <a:t>0</a:t>
                      </a:r>
                    </a:p>
                  </a:txBody>
                  <a:tcPr>
                    <a:solidFill>
                      <a:srgbClr val="151D2E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/>
                      <a:r>
                        <a:rPr sz="1200" b="0">
                          <a:solidFill>
                            <a:srgbClr val="FFFFFF"/>
                          </a:solidFill>
                          <a:latin typeface="Microsoft YaHei"/>
                        </a:rPr>
                        <a:t>-</a:t>
                      </a:r>
                    </a:p>
                  </a:txBody>
                  <a:tcPr>
                    <a:solidFill>
                      <a:srgbClr val="151D2E"/>
                    </a:solidFill>
                  </a:tcPr>
                </a:tc>
              </a:tr>
              <a:tr h="1097280">
                <a:tc>
                  <a:txBody>
                    <a:bodyPr wrap="square">
                      <a:normAutofit/>
                    </a:bodyPr>
                    <a:lstStyle/>
                    <a:p>
                      <a:pPr algn="l"/>
                      <a:r>
                        <a:rPr sz="1200" b="0">
                          <a:solidFill>
                            <a:srgbClr val="FFFFFF"/>
                          </a:solidFill>
                          <a:latin typeface="Microsoft YaHei"/>
                        </a:rPr>
                        <a:t>会员</a:t>
                      </a:r>
                    </a:p>
                  </a:txBody>
                  <a:tcPr>
                    <a:solidFill>
                      <a:srgbClr val="0D1117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/>
                      <a:r>
                        <a:rPr sz="1200" b="0">
                          <a:solidFill>
                            <a:srgbClr val="FFFFFF"/>
                          </a:solidFill>
                          <a:latin typeface="Microsoft YaHei"/>
                        </a:rPr>
                        <a:t>专业用户</a:t>
                      </a:r>
                    </a:p>
                  </a:txBody>
                  <a:tcPr>
                    <a:solidFill>
                      <a:srgbClr val="0D1117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/>
                      <a:r>
                        <a:rPr sz="1200" b="0">
                          <a:solidFill>
                            <a:srgbClr val="FFFFFF"/>
                          </a:solidFill>
                          <a:latin typeface="Microsoft YaHei"/>
                        </a:rPr>
                        <a:t>¥99/月</a:t>
                      </a:r>
                    </a:p>
                  </a:txBody>
                  <a:tcPr>
                    <a:solidFill>
                      <a:srgbClr val="0D1117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/>
                      <a:r>
                        <a:rPr sz="1200" b="0">
                          <a:solidFill>
                            <a:srgbClr val="FFFFFF"/>
                          </a:solidFill>
                          <a:latin typeface="Microsoft YaHei"/>
                        </a:rPr>
                        <a:t>85%</a:t>
                      </a:r>
                    </a:p>
                  </a:txBody>
                  <a:tcPr>
                    <a:solidFill>
                      <a:srgbClr val="0D1117"/>
                    </a:solidFill>
                  </a:tcPr>
                </a:tc>
              </a:tr>
              <a:tr h="1097280">
                <a:tc>
                  <a:txBody>
                    <a:bodyPr wrap="square">
                      <a:normAutofit/>
                    </a:bodyPr>
                    <a:lstStyle/>
                    <a:p>
                      <a:pPr algn="l"/>
                      <a:r>
                        <a:rPr sz="1200" b="0">
                          <a:solidFill>
                            <a:srgbClr val="FFFFFF"/>
                          </a:solidFill>
                          <a:latin typeface="Microsoft YaHei"/>
                        </a:rPr>
                        <a:t>企业</a:t>
                      </a:r>
                    </a:p>
                  </a:txBody>
                  <a:tcPr>
                    <a:solidFill>
                      <a:srgbClr val="151D2E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/>
                      <a:r>
                        <a:rPr sz="1200" b="0">
                          <a:solidFill>
                            <a:srgbClr val="FFFFFF"/>
                          </a:solidFill>
                          <a:latin typeface="Microsoft YaHei"/>
                        </a:rPr>
                        <a:t>团队</a:t>
                      </a:r>
                    </a:p>
                  </a:txBody>
                  <a:tcPr>
                    <a:solidFill>
                      <a:srgbClr val="151D2E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/>
                      <a:r>
                        <a:rPr sz="1200" b="0">
                          <a:solidFill>
                            <a:srgbClr val="FFFFFF"/>
                          </a:solidFill>
                          <a:latin typeface="Microsoft YaHei"/>
                        </a:rPr>
                        <a:t>¥1999/席/年</a:t>
                      </a:r>
                    </a:p>
                  </a:txBody>
                  <a:tcPr>
                    <a:solidFill>
                      <a:srgbClr val="151D2E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/>
                      <a:r>
                        <a:rPr sz="1200" b="0">
                          <a:solidFill>
                            <a:srgbClr val="FFFFFF"/>
                          </a:solidFill>
                          <a:latin typeface="Microsoft YaHei"/>
                        </a:rPr>
                        <a:t>90%</a:t>
                      </a:r>
                    </a:p>
                  </a:txBody>
                  <a:tcPr>
                    <a:solidFill>
                      <a:srgbClr val="151D2E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900" b="0" i="0">
                <a:solidFill>
                  <a:srgbClr val="8B949E"/>
                </a:solidFill>
                <a:latin typeface="Microsoft YaHei"/>
              </a:rPr>
              <a:t>Reasonix AI · 机密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8B949E"/>
                </a:solidFill>
                <a:latin typeface="Microsoft YaHei"/>
              </a:rPr>
              <a:t>9</a:t>
            </a:r>
          </a:p>
        </p:txBody>
      </p:sp>
    </p:spTree>
  </p:cSld>
  <p:clrMapOvr>
    <a:masterClrMapping/>
  </p:clrMapOvr>
  <p:transition xmlns:p14="http://schemas.microsoft.com/office/powerpoint/2010/main" p14:dur="500" advClick="1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1463040"/>
            <a:ext cx="822960" cy="822960"/>
          </a:xfrm>
          <a:noFill/>
          <a:ln w="19050">
            <a:solidFill>
              <a:srgbClr val="D4A060"/>
            </a:solidFill>
          </a:ln>
          <a:effectLst/>
          <a:custGeom>
            <a:pathLst>
              <a:path w="100000" h="100000">
                <a:moveTo>
                  <a:pt x="24000" y="24000"/>
                </a:moveTo>
                <a:lnTo>
                  <a:pt x="24000" y="56000"/>
                </a:lnTo>
                <a:lnTo>
                  <a:pt x="44000" y="56000"/>
                </a:lnTo>
              </a:path>
              <a:path w="100000" h="100000">
                <a:moveTo>
                  <a:pt x="56000" y="24000"/>
                </a:moveTo>
                <a:lnTo>
                  <a:pt x="56000" y="56000"/>
                </a:lnTo>
                <a:lnTo>
                  <a:pt x="76000" y="56000"/>
                </a:lnTo>
              </a:path>
            </a:pathLst>
          </a:cu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554480"/>
            <a:ext cx="1371600" cy="1371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8600" b="1" i="0">
                <a:solidFill>
                  <a:srgbClr val="D4A060"/>
                </a:solidFill>
                <a:latin typeface="Microsoft YaHei"/>
              </a:rPr>
              <a:t>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103120"/>
            <a:ext cx="9601200" cy="22860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600" b="0" i="1">
                <a:solidFill>
                  <a:srgbClr val="FFFFFF"/>
                </a:solidFill>
                <a:latin typeface="Microsoft YaHei"/>
              </a:rPr>
              <a:t>让每个企业都有自己的 AI 员工，从一份知识库开始。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754880"/>
            <a:ext cx="96012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0" i="0">
                <a:solidFill>
                  <a:srgbClr val="58A6FF"/>
                </a:solidFill>
                <a:latin typeface="Microsoft YaHei"/>
              </a:rPr>
              <a:t>— Reasonix AI 使命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900" b="0" i="0">
                <a:solidFill>
                  <a:srgbClr val="8B949E"/>
                </a:solidFill>
                <a:latin typeface="Microsoft YaHei"/>
              </a:rPr>
              <a:t>Reasonix AI · 机密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8B949E"/>
                </a:solidFill>
                <a:latin typeface="Microsoft YaHei"/>
              </a:rPr>
              <a:t>10</a:t>
            </a:r>
          </a:p>
        </p:txBody>
      </p:sp>
    </p:spTree>
  </p:cSld>
  <p:clrMapOvr>
    <a:masterClrMapping/>
  </p:clrMapOvr>
  <p:transition xmlns:p14="http://schemas.microsoft.com/office/powerpoint/2010/main" p14:dur="500" advClick="1">
    <p:wipe dir="r"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457200" cy="457200"/>
          </a:xfrm>
          <a:noFill/>
          <a:ln w="19050">
            <a:solidFill>
              <a:srgbClr val="D4A060"/>
            </a:solidFill>
          </a:ln>
          <a:effectLst/>
          <a:custGeom>
            <a:pathLst>
              <a:path w="100000" h="100000">
                <a:moveTo>
                  <a:pt x="86000" y="50000"/>
                </a:moveTo>
                <a:lnTo>
                  <a:pt x="84773" y="59317"/>
                </a:lnTo>
                <a:lnTo>
                  <a:pt x="81176" y="68000"/>
                </a:lnTo>
                <a:lnTo>
                  <a:pt x="75455" y="75455"/>
                </a:lnTo>
                <a:lnTo>
                  <a:pt x="68000" y="81176"/>
                </a:lnTo>
                <a:lnTo>
                  <a:pt x="59317" y="84773"/>
                </a:lnTo>
                <a:lnTo>
                  <a:pt x="50000" y="86000"/>
                </a:lnTo>
                <a:lnTo>
                  <a:pt x="40682" y="84773"/>
                </a:lnTo>
                <a:lnTo>
                  <a:pt x="32000" y="81176"/>
                </a:lnTo>
                <a:lnTo>
                  <a:pt x="24544" y="75455"/>
                </a:lnTo>
                <a:lnTo>
                  <a:pt x="18823" y="68000"/>
                </a:lnTo>
                <a:lnTo>
                  <a:pt x="15226" y="59317"/>
                </a:lnTo>
                <a:lnTo>
                  <a:pt x="14000" y="50000"/>
                </a:lnTo>
                <a:lnTo>
                  <a:pt x="15226" y="40682"/>
                </a:lnTo>
                <a:lnTo>
                  <a:pt x="18823" y="32000"/>
                </a:lnTo>
                <a:lnTo>
                  <a:pt x="24544" y="24544"/>
                </a:lnTo>
                <a:lnTo>
                  <a:pt x="31999" y="18823"/>
                </a:lnTo>
                <a:lnTo>
                  <a:pt x="40682" y="15226"/>
                </a:lnTo>
                <a:lnTo>
                  <a:pt x="49999" y="14000"/>
                </a:lnTo>
                <a:lnTo>
                  <a:pt x="59317" y="15226"/>
                </a:lnTo>
                <a:lnTo>
                  <a:pt x="68000" y="18823"/>
                </a:lnTo>
                <a:lnTo>
                  <a:pt x="75455" y="24544"/>
                </a:lnTo>
                <a:lnTo>
                  <a:pt x="81176" y="31999"/>
                </a:lnTo>
                <a:lnTo>
                  <a:pt x="84773" y="40682"/>
                </a:lnTo>
                <a:lnTo>
                  <a:pt x="86000" y="50000"/>
                </a:lnTo>
                <a:close/>
              </a:path>
              <a:path w="100000" h="100000">
                <a:moveTo>
                  <a:pt x="32000" y="52000"/>
                </a:moveTo>
                <a:lnTo>
                  <a:pt x="46000" y="66000"/>
                </a:lnTo>
                <a:lnTo>
                  <a:pt x="70000" y="36000"/>
                </a:lnTo>
              </a:path>
            </a:pathLst>
          </a:cu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365760"/>
            <a:ext cx="1005840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800" b="1" i="0">
                <a:solidFill>
                  <a:srgbClr val="D4A060"/>
                </a:solidFill>
                <a:latin typeface="Microsoft YaHei"/>
              </a:rPr>
              <a:t>总结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1097280" y="1024128"/>
            <a:ext cx="2011680" cy="54864"/>
          </a:xfrm>
          <a:prstGeom prst="rect">
            <a:avLst/>
          </a:prstGeom>
          <a:solidFill>
            <a:srgbClr val="D4A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1664207"/>
            <a:ext cx="109728" cy="109728"/>
          </a:xfrm>
          <a:prstGeom prst="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554480"/>
            <a:ext cx="10241280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Microsoft YaHei"/>
              </a:rPr>
              <a:t>市场窗口已打开，先发优势关键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267712"/>
            <a:ext cx="109728" cy="109728"/>
          </a:xfrm>
          <a:prstGeom prst="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157984"/>
            <a:ext cx="10241280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Microsoft YaHei"/>
              </a:rPr>
              <a:t>知识中枢是壁垒，MCP 生态是杠杆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2871216"/>
            <a:ext cx="109728" cy="109728"/>
          </a:xfrm>
          <a:prstGeom prst="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2761488"/>
            <a:ext cx="10241280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Microsoft YaHei"/>
              </a:rPr>
              <a:t>三层变现，企业版是高毛利引擎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5486400"/>
            <a:ext cx="10515600" cy="822960"/>
          </a:xfrm>
          <a:prstGeom prst="rect">
            <a:avLst/>
          </a:prstGeom>
          <a:solidFill>
            <a:srgbClr val="D4A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5486400"/>
            <a:ext cx="10149840" cy="8229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Microsoft YaHei"/>
              </a:rPr>
              <a:t>本轮融资用于模型日历与海外合规，18 个月做到 10 万付费。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900" b="0" i="0">
                <a:solidFill>
                  <a:srgbClr val="8B949E"/>
                </a:solidFill>
                <a:latin typeface="Microsoft YaHei"/>
              </a:rPr>
              <a:t>Reasonix AI · 机密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8B949E"/>
                </a:solidFill>
                <a:latin typeface="Microsoft YaHei"/>
              </a:rPr>
              <a:t>11</a:t>
            </a:r>
          </a:p>
        </p:txBody>
      </p:sp>
    </p:spTree>
  </p:cSld>
  <p:clrMapOvr>
    <a:masterClrMapping/>
  </p:clrMapOvr>
  <p:transition xmlns:p14="http://schemas.microsoft.com/office/powerpoint/2010/main" p14:dur="500" advClick="1">
    <p:strips dir="rd"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733288" y="1280160"/>
            <a:ext cx="731520" cy="731520"/>
          </a:xfrm>
          <a:noFill/>
          <a:ln w="19050">
            <a:solidFill>
              <a:srgbClr val="D4A060"/>
            </a:solidFill>
          </a:ln>
          <a:effectLst/>
          <a:custGeom>
            <a:pathLst>
              <a:path w="100000" h="100000">
                <a:moveTo>
                  <a:pt x="20000" y="30000"/>
                </a:moveTo>
                <a:lnTo>
                  <a:pt x="80000" y="30000"/>
                </a:lnTo>
                <a:lnTo>
                  <a:pt x="80000" y="70000"/>
                </a:lnTo>
                <a:lnTo>
                  <a:pt x="20000" y="70000"/>
                </a:lnTo>
                <a:lnTo>
                  <a:pt x="20000" y="30000"/>
                </a:lnTo>
                <a:close/>
              </a:path>
              <a:path w="100000" h="100000">
                <a:moveTo>
                  <a:pt x="20000" y="30000"/>
                </a:moveTo>
                <a:lnTo>
                  <a:pt x="50000" y="52000"/>
                </a:lnTo>
                <a:lnTo>
                  <a:pt x="80000" y="30000"/>
                </a:lnTo>
              </a:path>
            </a:pathLst>
          </a:cu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3272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3600" b="1" i="0">
                <a:solidFill>
                  <a:srgbClr val="D4A060"/>
                </a:solidFill>
                <a:latin typeface="Microsoft YaHei"/>
              </a:rPr>
              <a:t>联系我们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91840"/>
            <a:ext cx="10332720" cy="1371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  <a:latin typeface="Microsoft YaHei"/>
              </a:rPr>
              <a:t>invest@reasonix.ai · 微信 aibak2026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900" b="0" i="0">
                <a:solidFill>
                  <a:srgbClr val="8B949E"/>
                </a:solidFill>
                <a:latin typeface="Microsoft YaHei"/>
              </a:rPr>
              <a:t>Reasonix AI · 机密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8B949E"/>
                </a:solidFill>
                <a:latin typeface="Microsoft YaHei"/>
              </a:rPr>
              <a:t>12</a:t>
            </a:r>
          </a:p>
        </p:txBody>
      </p:sp>
    </p:spTree>
  </p:cSld>
  <p:clrMapOvr>
    <a:masterClrMapping/>
  </p:clrMapOvr>
  <p:transition xmlns:p14="http://schemas.microsoft.com/office/powerpoint/2010/main" p14:dur="500" advClick="1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rgbClr val="0D1117"/>
      </a:dk1>
      <a:lt1>
        <a:srgbClr val="FFFFFF"/>
      </a:lt1>
      <a:dk2>
        <a:srgbClr val="58A6FF"/>
      </a:dk2>
      <a:lt2>
        <a:srgbClr val="151D2E"/>
      </a:lt2>
      <a:accent1>
        <a:srgbClr val="D4A060"/>
      </a:accent1>
      <a:accent2>
        <a:srgbClr val="58A6FF"/>
      </a:accent2>
      <a:accent3>
        <a:srgbClr val="3FB950"/>
      </a:accent3>
      <a:accent4>
        <a:srgbClr val="8B949E"/>
      </a:accent4>
      <a:accent5>
        <a:srgbClr val="30363D"/>
      </a:accent5>
      <a:accent6>
        <a:srgbClr val="D4A060"/>
      </a:accent6>
    </a:clrScheme>
    <a:fontScheme name="Office">
      <a:majorFont>
        <a:latin typeface="Microsoft YaHe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Microsoft YaHe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