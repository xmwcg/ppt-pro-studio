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企业 Agent 市场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2026E</c:v>
                </c:pt>
                <c:pt idx="3">
                  <c:v>2027E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280</c:v>
                </c:pt>
                <c:pt idx="2">
                  <c:v>540</c:v>
                </c:pt>
                <c:pt idx="3">
                  <c:v>960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4600" b="1" i="0">
                <a:solidFill>
                  <a:srgbClr val="D4A060"/>
                </a:solidFill>
                <a:latin typeface="Microsoft YaHei"/>
              </a:rPr>
              <a:t>AI Agent 平台商业计划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2000" b="0" i="0">
                <a:solidFill>
                  <a:srgbClr val="58A6FF"/>
                </a:solidFill>
                <a:latin typeface="Microsoft YaHei"/>
              </a:rPr>
              <a:t>一站式 AI Agent 商业平台 · 知识管理 · 智能工具 · 团队协作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Microsoft YaHei"/>
              </a:rPr>
              <a:t>2026 投资人路演 · 免费开源可商用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wipe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5448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市场机会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57984"/>
            <a:ext cx="10424160" cy="13716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67712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产品矩阵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71215"/>
            <a:ext cx="10424160" cy="13716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80944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8094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商业模式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584448"/>
            <a:ext cx="10424160" cy="13716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94176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增长路线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97680"/>
            <a:ext cx="10424160" cy="13716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Microsoft Ya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07408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团队与融资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10912"/>
            <a:ext cx="10424160" cy="13716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64592" cy="1188720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>
            <a:normAutofit/>
          </a:bodyPr>
          <a:lstStyle/>
          <a:p>
            <a:pPr algn="l"/>
            <a:r>
              <a:rPr sz="3400" b="1" i="0">
                <a:solidFill>
                  <a:srgbClr val="D4A060"/>
                </a:solidFill>
                <a:latin typeface="Microsoft YaHei"/>
              </a:rPr>
              <a:t>01 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Microsoft YaHei"/>
              </a:rPr>
              <a:t>企业智能体需求爆发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64207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24128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企业知识孤岛严重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38528"/>
            <a:ext cx="1024128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Microsoft YaHei"/>
              </a:rPr>
              <a:t> 80% 内部文档无法被检索调用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31136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24128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人工流程成本高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05456"/>
            <a:ext cx="1024128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Microsoft YaHei"/>
              </a:rPr>
              <a:t> 重复性办公任务占工时 40%+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98064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88336"/>
            <a:ext cx="1024128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大模型能力成熟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72384"/>
            <a:ext cx="1024128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Microsoft YaHei"/>
              </a:rPr>
              <a:t> 多模态 + 长上下文让 Agent 可落地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cover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市场规模 (亿美元)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10698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64592" cy="1188720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>
            <a:normAutofit/>
          </a:bodyPr>
          <a:lstStyle/>
          <a:p>
            <a:pPr algn="l"/>
            <a:r>
              <a:rPr sz="3400" b="1" i="0">
                <a:solidFill>
                  <a:srgbClr val="D4A060"/>
                </a:solidFill>
                <a:latin typeface="Microsoft YaHei"/>
              </a:rPr>
              <a:t>02 产品矩阵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Microsoft YaHei"/>
              </a:rPr>
              <a:t>四层一体化平台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产品矩阵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554480"/>
            <a:ext cx="5394960" cy="4389120"/>
          </a:xfrm>
          <a:prstGeom prst="rect">
            <a:avLst/>
          </a:prstGeom>
          <a:solidFill>
            <a:srgbClr val="15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1" i="0">
                <a:solidFill>
                  <a:srgbClr val="D4A060"/>
                </a:solidFill>
                <a:latin typeface="Microsoft YaHei"/>
              </a:rPr>
              <a:t>能力层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600" b="1" i="0">
                <a:solidFill>
                  <a:srgbClr val="D4A060"/>
                </a:solidFill>
                <a:latin typeface="Microsoft YaHei"/>
              </a:rPr>
              <a:t>交付层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9572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知识中枢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4436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多模型调度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9300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MCP 插件市场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4164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技能编排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39572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228600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AI 对话框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4436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83464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学习中心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49300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338328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创作工坊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41648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3931920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企业版 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rand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增长路线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332720" cy="36576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23694" y="3593592"/>
            <a:ext cx="164592" cy="164592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8710" y="265176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300" b="1" i="0">
                <a:solidFill>
                  <a:srgbClr val="D4A060"/>
                </a:solidFill>
                <a:latin typeface="Microsoft YaHei"/>
              </a:rPr>
              <a:t>P1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" y="3794760"/>
            <a:ext cx="2194560" cy="9144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Microsoft YaHei"/>
              </a:rPr>
              <a:t>知识库+对话+RAG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6874" y="3593592"/>
            <a:ext cx="164592" cy="164592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1890" y="265176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300" b="1" i="0">
                <a:solidFill>
                  <a:srgbClr val="D4A060"/>
                </a:solidFill>
                <a:latin typeface="Microsoft YaHei"/>
              </a:rPr>
              <a:t>P2 生态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1890" y="3794760"/>
            <a:ext cx="2194560" cy="9144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Microsoft YaHei"/>
              </a:rPr>
              <a:t>学习路径+MCP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0054" y="3593592"/>
            <a:ext cx="164592" cy="164592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070" y="265176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300" b="1" i="0">
                <a:solidFill>
                  <a:srgbClr val="D4A060"/>
                </a:solidFill>
                <a:latin typeface="Microsoft YaHei"/>
              </a:rPr>
              <a:t>P3 企业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5070" y="3794760"/>
            <a:ext cx="2194560" cy="9144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Microsoft YaHei"/>
              </a:rPr>
              <a:t>知识图谱+沙盒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3234" y="3593592"/>
            <a:ext cx="164592" cy="164592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8250" y="265176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300" b="1" i="0">
                <a:solidFill>
                  <a:srgbClr val="D4A060"/>
                </a:solidFill>
                <a:latin typeface="Microsoft YaHei"/>
              </a:rPr>
              <a:t>P4 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0" y="3794760"/>
            <a:ext cx="2194560" cy="9144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Microsoft YaHei"/>
              </a:rPr>
              <a:t>Tauri+出海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strips dir="rd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商业模式对比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09728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D4A060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>
                    <a:solidFill>
                      <a:srgbClr val="D4A060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ARPU</a:t>
                      </a:r>
                    </a:p>
                  </a:txBody>
                  <a:tcPr>
                    <a:solidFill>
                      <a:srgbClr val="D4A060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毛利</a:t>
                      </a:r>
                    </a:p>
                  </a:txBody>
                  <a:tcPr>
                    <a:solidFill>
                      <a:srgbClr val="D4A060"/>
                    </a:solidFill>
                  </a:tcPr>
                </a:tc>
              </a:tr>
              <a:tr h="109728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免费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个人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109728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会员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专业用户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¥99/月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85%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109728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企业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团队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¥1999/席/年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Microsoft YaHei"/>
                        </a:rPr>
                        <a:t>90%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554480"/>
            <a:ext cx="1371600" cy="13716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2000" b="1" i="0">
                <a:solidFill>
                  <a:srgbClr val="D4A060"/>
                </a:solidFill>
                <a:latin typeface="Microsoft YaHe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601200" cy="2286000"/>
          </a:xfrm>
          <a:prstGeom prst="rect">
            <a:avLst/>
          </a:prstGeom>
          <a:noFill/>
        </p:spPr>
        <p:txBody>
          <a:bodyPr wrap="square" anchor="ctr" lIns="45720" rIns="45720">
            <a:norm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  <a:latin typeface="Microsoft YaHei"/>
              </a:rPr>
              <a:t>让每个企业都有自己的 AI 员工，从一份知识库开始。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0" i="0">
                <a:solidFill>
                  <a:srgbClr val="58A6FF"/>
                </a:solidFill>
                <a:latin typeface="Microsoft YaHei"/>
              </a:rPr>
              <a:t>— Reasonix AI 使命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wipe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2800" b="1" i="0">
                <a:solidFill>
                  <a:srgbClr val="D4A060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2011680" cy="54864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64207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24128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市场窗口已打开，先发优势关键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67712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57984"/>
            <a:ext cx="1024128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知识中枢是壁垒，MCP 生态是杠杆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71216"/>
            <a:ext cx="109728" cy="10972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10241280" cy="50292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三层变现，企业版是高毛利引擎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solidFill>
            <a:srgbClr val="D4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86400"/>
            <a:ext cx="10149840" cy="822960"/>
          </a:xfrm>
          <a:prstGeom prst="rect">
            <a:avLst/>
          </a:prstGeom>
          <a:noFill/>
        </p:spPr>
        <p:txBody>
          <a:bodyPr wrap="square" anchor="ctr" lIns="45720" rIns="45720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本轮融资用于模型日历与海外合规，18 个月做到 10 万付费。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strips dir="rd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3600" b="1" i="0">
                <a:solidFill>
                  <a:srgbClr val="D4A060"/>
                </a:solidFill>
                <a:latin typeface="Microsoft YaHei"/>
              </a:rPr>
              <a:t>联系我们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137160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Microsoft YaHei"/>
              </a:rPr>
              <a:t>invest@reasonix.ai · 微信 aibak2026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Microsoft YaHei"/>
              </a:rPr>
              <a:t>Reasonix AI · 机密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norm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