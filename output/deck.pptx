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企业 Agent 市场</c:v>
                </c:pt>
              </c:strCache>
            </c:strRef>
          </c:tx>
          <c:spPr>
            <a:solidFill>
              <a:srgbClr val="D4A060"/>
            </a:solidFill>
          </c:spPr>
          <c:dPt>
            <c:idx val="3"/>
            <c:spPr>
              <a:solidFill>
                <a:srgbClr val="3FB950"/>
              </a:solidFill>
            </c:spPr>
          </c:dPt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2026E</c:v>
                </c:pt>
                <c:pt idx="3">
                  <c:v>2027E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280</c:v>
                </c:pt>
                <c:pt idx="2">
                  <c:v>540</c:v>
                </c:pt>
                <c:pt idx="3">
                  <c:v>960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通用 Agent 市场</c:v>
                </c:pt>
              </c:strCache>
            </c:strRef>
          </c:tx>
          <c:spPr>
            <a:solidFill>
              <a:srgbClr val="58A6FF"/>
            </a:solidFill>
          </c:spPr>
          <c:dPt>
            <c:idx val="3"/>
            <c:spPr>
              <a:solidFill>
                <a:srgbClr val="3FB950"/>
              </a:solidFill>
            </c:spPr>
          </c:dPt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2026E</c:v>
                </c:pt>
                <c:pt idx="3">
                  <c:v>2027E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420</c:v>
                </c:pt>
                <c:pt idx="2">
                  <c:v>760</c:v>
                </c:pt>
                <c:pt idx="3">
                  <c:v>1280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30363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949E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FFFFFF"/>
              </a:solidFill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FFFFFF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33288" y="1371600"/>
            <a:ext cx="731520" cy="73152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40000" y="14000"/>
                </a:moveTo>
                <a:lnTo>
                  <a:pt x="60000" y="20000"/>
                </a:lnTo>
                <a:lnTo>
                  <a:pt x="58000" y="54000"/>
                </a:lnTo>
                <a:lnTo>
                  <a:pt x="42000" y="54000"/>
                </a:lnTo>
                <a:lnTo>
                  <a:pt x="40000" y="14000"/>
                </a:lnTo>
                <a:close/>
              </a:path>
              <a:path w="100000" h="100000">
                <a:moveTo>
                  <a:pt x="42000" y="54000"/>
                </a:moveTo>
                <a:lnTo>
                  <a:pt x="34000" y="70000"/>
                </a:lnTo>
                <a:lnTo>
                  <a:pt x="44000" y="64000"/>
                </a:lnTo>
              </a:path>
              <a:path w="100000" h="100000">
                <a:moveTo>
                  <a:pt x="58000" y="54000"/>
                </a:moveTo>
                <a:lnTo>
                  <a:pt x="66000" y="70000"/>
                </a:lnTo>
                <a:lnTo>
                  <a:pt x="56000" y="64000"/>
                </a:lnTo>
              </a:path>
              <a:path w="100000" h="100000">
                <a:moveTo>
                  <a:pt x="56000" y="30000"/>
                </a:moveTo>
                <a:lnTo>
                  <a:pt x="55795" y="31552"/>
                </a:lnTo>
                <a:lnTo>
                  <a:pt x="55196" y="33000"/>
                </a:lnTo>
                <a:lnTo>
                  <a:pt x="54242" y="34242"/>
                </a:lnTo>
                <a:lnTo>
                  <a:pt x="53000" y="35196"/>
                </a:lnTo>
                <a:lnTo>
                  <a:pt x="51552" y="35795"/>
                </a:lnTo>
                <a:lnTo>
                  <a:pt x="50000" y="36000"/>
                </a:lnTo>
                <a:lnTo>
                  <a:pt x="48447" y="35795"/>
                </a:lnTo>
                <a:lnTo>
                  <a:pt x="47000" y="35196"/>
                </a:lnTo>
                <a:lnTo>
                  <a:pt x="45757" y="34242"/>
                </a:lnTo>
                <a:lnTo>
                  <a:pt x="44803" y="33000"/>
                </a:lnTo>
                <a:lnTo>
                  <a:pt x="44204" y="31552"/>
                </a:lnTo>
                <a:lnTo>
                  <a:pt x="44000" y="30000"/>
                </a:lnTo>
                <a:lnTo>
                  <a:pt x="44204" y="28447"/>
                </a:lnTo>
                <a:lnTo>
                  <a:pt x="44803" y="27000"/>
                </a:lnTo>
                <a:lnTo>
                  <a:pt x="45757" y="25757"/>
                </a:lnTo>
                <a:lnTo>
                  <a:pt x="47000" y="24803"/>
                </a:lnTo>
                <a:lnTo>
                  <a:pt x="48447" y="24204"/>
                </a:lnTo>
                <a:lnTo>
                  <a:pt x="50000" y="24000"/>
                </a:lnTo>
                <a:lnTo>
                  <a:pt x="51552" y="24204"/>
                </a:lnTo>
                <a:lnTo>
                  <a:pt x="53000" y="24803"/>
                </a:lnTo>
                <a:lnTo>
                  <a:pt x="54242" y="25757"/>
                </a:lnTo>
                <a:lnTo>
                  <a:pt x="55196" y="26999"/>
                </a:lnTo>
                <a:lnTo>
                  <a:pt x="55795" y="28447"/>
                </a:lnTo>
                <a:lnTo>
                  <a:pt x="56000" y="3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600" b="1" i="0">
                <a:solidFill>
                  <a:srgbClr val="D4A060"/>
                </a:solidFill>
                <a:latin typeface="Microsoft YaHei"/>
              </a:rPr>
              <a:t>AI Agent 平台商业计划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0" i="0">
                <a:solidFill>
                  <a:srgbClr val="58A6FF"/>
                </a:solidFill>
                <a:latin typeface="Microsoft YaHei"/>
              </a:rPr>
              <a:t>一站式 AI Agent 商业平台 · 知识管理 · 智能工具 · 团队协作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Microsoft YaHei"/>
              </a:rPr>
              <a:t>2026 投资人路演 · 免费开源可商用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30000" y="30000"/>
                </a:moveTo>
                <a:lnTo>
                  <a:pt x="76000" y="30000"/>
                </a:lnTo>
              </a:path>
              <a:path w="100000" h="100000">
                <a:moveTo>
                  <a:pt x="30000" y="50000"/>
                </a:moveTo>
                <a:lnTo>
                  <a:pt x="76000" y="50000"/>
                </a:lnTo>
              </a:path>
              <a:path w="100000" h="100000">
                <a:moveTo>
                  <a:pt x="30000" y="70000"/>
                </a:moveTo>
                <a:lnTo>
                  <a:pt x="76000" y="70000"/>
                </a:lnTo>
              </a:path>
              <a:path w="100000" h="100000">
                <a:moveTo>
                  <a:pt x="24000" y="30000"/>
                </a:moveTo>
                <a:lnTo>
                  <a:pt x="23863" y="31035"/>
                </a:lnTo>
                <a:lnTo>
                  <a:pt x="23464" y="32000"/>
                </a:lnTo>
                <a:lnTo>
                  <a:pt x="22828" y="32828"/>
                </a:lnTo>
                <a:lnTo>
                  <a:pt x="22000" y="33464"/>
                </a:lnTo>
                <a:lnTo>
                  <a:pt x="21035" y="33863"/>
                </a:lnTo>
                <a:lnTo>
                  <a:pt x="20000" y="34000"/>
                </a:lnTo>
                <a:lnTo>
                  <a:pt x="18964" y="33863"/>
                </a:lnTo>
                <a:lnTo>
                  <a:pt x="18000" y="33464"/>
                </a:lnTo>
                <a:lnTo>
                  <a:pt x="17171" y="32828"/>
                </a:lnTo>
                <a:lnTo>
                  <a:pt x="16535" y="32000"/>
                </a:lnTo>
                <a:lnTo>
                  <a:pt x="16136" y="31035"/>
                </a:lnTo>
                <a:lnTo>
                  <a:pt x="16000" y="30000"/>
                </a:lnTo>
                <a:lnTo>
                  <a:pt x="16136" y="28964"/>
                </a:lnTo>
                <a:lnTo>
                  <a:pt x="16535" y="28000"/>
                </a:lnTo>
                <a:lnTo>
                  <a:pt x="17171" y="27171"/>
                </a:lnTo>
                <a:lnTo>
                  <a:pt x="18000" y="26535"/>
                </a:lnTo>
                <a:lnTo>
                  <a:pt x="18964" y="26136"/>
                </a:lnTo>
                <a:lnTo>
                  <a:pt x="20000" y="26000"/>
                </a:lnTo>
                <a:lnTo>
                  <a:pt x="21035" y="26136"/>
                </a:lnTo>
                <a:lnTo>
                  <a:pt x="22000" y="26535"/>
                </a:lnTo>
                <a:lnTo>
                  <a:pt x="22828" y="27171"/>
                </a:lnTo>
                <a:lnTo>
                  <a:pt x="23464" y="28000"/>
                </a:lnTo>
                <a:lnTo>
                  <a:pt x="23863" y="28964"/>
                </a:lnTo>
                <a:lnTo>
                  <a:pt x="24000" y="30000"/>
                </a:lnTo>
                <a:close/>
              </a:path>
              <a:path w="100000" h="100000">
                <a:moveTo>
                  <a:pt x="24000" y="50000"/>
                </a:moveTo>
                <a:lnTo>
                  <a:pt x="23863" y="51035"/>
                </a:lnTo>
                <a:lnTo>
                  <a:pt x="23464" y="52000"/>
                </a:lnTo>
                <a:lnTo>
                  <a:pt x="22828" y="52828"/>
                </a:lnTo>
                <a:lnTo>
                  <a:pt x="22000" y="53464"/>
                </a:lnTo>
                <a:lnTo>
                  <a:pt x="21035" y="53863"/>
                </a:lnTo>
                <a:lnTo>
                  <a:pt x="20000" y="54000"/>
                </a:lnTo>
                <a:lnTo>
                  <a:pt x="18964" y="53863"/>
                </a:lnTo>
                <a:lnTo>
                  <a:pt x="18000" y="53464"/>
                </a:lnTo>
                <a:lnTo>
                  <a:pt x="17171" y="52828"/>
                </a:lnTo>
                <a:lnTo>
                  <a:pt x="16535" y="52000"/>
                </a:lnTo>
                <a:lnTo>
                  <a:pt x="16136" y="51035"/>
                </a:lnTo>
                <a:lnTo>
                  <a:pt x="16000" y="50000"/>
                </a:lnTo>
                <a:lnTo>
                  <a:pt x="16136" y="48964"/>
                </a:lnTo>
                <a:lnTo>
                  <a:pt x="16535" y="48000"/>
                </a:lnTo>
                <a:lnTo>
                  <a:pt x="17171" y="47171"/>
                </a:lnTo>
                <a:lnTo>
                  <a:pt x="18000" y="46535"/>
                </a:lnTo>
                <a:lnTo>
                  <a:pt x="18964" y="46136"/>
                </a:lnTo>
                <a:lnTo>
                  <a:pt x="20000" y="46000"/>
                </a:lnTo>
                <a:lnTo>
                  <a:pt x="21035" y="46136"/>
                </a:lnTo>
                <a:lnTo>
                  <a:pt x="22000" y="46535"/>
                </a:lnTo>
                <a:lnTo>
                  <a:pt x="22828" y="47171"/>
                </a:lnTo>
                <a:lnTo>
                  <a:pt x="23464" y="48000"/>
                </a:lnTo>
                <a:lnTo>
                  <a:pt x="23863" y="48964"/>
                </a:lnTo>
                <a:lnTo>
                  <a:pt x="24000" y="50000"/>
                </a:lnTo>
                <a:close/>
              </a:path>
              <a:path w="100000" h="100000">
                <a:moveTo>
                  <a:pt x="24000" y="70000"/>
                </a:moveTo>
                <a:lnTo>
                  <a:pt x="23863" y="71035"/>
                </a:lnTo>
                <a:lnTo>
                  <a:pt x="23464" y="72000"/>
                </a:lnTo>
                <a:lnTo>
                  <a:pt x="22828" y="72828"/>
                </a:lnTo>
                <a:lnTo>
                  <a:pt x="22000" y="73464"/>
                </a:lnTo>
                <a:lnTo>
                  <a:pt x="21035" y="73863"/>
                </a:lnTo>
                <a:lnTo>
                  <a:pt x="20000" y="74000"/>
                </a:lnTo>
                <a:lnTo>
                  <a:pt x="18964" y="73863"/>
                </a:lnTo>
                <a:lnTo>
                  <a:pt x="18000" y="73464"/>
                </a:lnTo>
                <a:lnTo>
                  <a:pt x="17171" y="72828"/>
                </a:lnTo>
                <a:lnTo>
                  <a:pt x="16535" y="72000"/>
                </a:lnTo>
                <a:lnTo>
                  <a:pt x="16136" y="71035"/>
                </a:lnTo>
                <a:lnTo>
                  <a:pt x="16000" y="70000"/>
                </a:lnTo>
                <a:lnTo>
                  <a:pt x="16136" y="68964"/>
                </a:lnTo>
                <a:lnTo>
                  <a:pt x="16535" y="68000"/>
                </a:lnTo>
                <a:lnTo>
                  <a:pt x="17171" y="67171"/>
                </a:lnTo>
                <a:lnTo>
                  <a:pt x="18000" y="66535"/>
                </a:lnTo>
                <a:lnTo>
                  <a:pt x="18964" y="66136"/>
                </a:lnTo>
                <a:lnTo>
                  <a:pt x="20000" y="66000"/>
                </a:lnTo>
                <a:lnTo>
                  <a:pt x="21035" y="66136"/>
                </a:lnTo>
                <a:lnTo>
                  <a:pt x="22000" y="66535"/>
                </a:lnTo>
                <a:lnTo>
                  <a:pt x="22828" y="67171"/>
                </a:lnTo>
                <a:lnTo>
                  <a:pt x="23464" y="68000"/>
                </a:lnTo>
                <a:lnTo>
                  <a:pt x="23863" y="68964"/>
                </a:lnTo>
                <a:lnTo>
                  <a:pt x="24000" y="7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5448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市场机会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57984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67712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产品矩阵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71215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80944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80944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商业模式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584448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94176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94176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增长路线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97680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07408"/>
            <a:ext cx="640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Microsoft Ya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07408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icrosoft YaHei"/>
              </a:rPr>
              <a:t>团队与融资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010912"/>
            <a:ext cx="10424160" cy="1371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push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182880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64592" cy="1828800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08960" y="2651760"/>
            <a:ext cx="18288" cy="146304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600" b="1" i="0">
                <a:solidFill>
                  <a:srgbClr val="3FB950"/>
                </a:solidFill>
                <a:latin typeface="Microsoft YaHei"/>
              </a:rPr>
              <a:t>01</a:t>
            </a:r>
          </a:p>
        </p:txBody>
      </p:sp>
      <p:sp>
        <p:nvSpPr>
          <p:cNvPr id="6" name="Oval 5"/>
          <p:cNvSpPr/>
          <p:nvPr/>
        </p:nvSpPr>
        <p:spPr>
          <a:xfrm>
            <a:off x="10332720" y="2697480"/>
            <a:ext cx="1188720" cy="1188720"/>
          </a:xfrm>
          <a:prstGeom prst="ellipse">
            <a:avLst/>
          </a:prstGeom>
          <a:noFill/>
          <a:ln w="19050">
            <a:solidFill>
              <a:srgbClr val="D4A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697480"/>
            <a:ext cx="67665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400" b="1" i="0">
                <a:solidFill>
                  <a:srgbClr val="D4A060"/>
                </a:solidFill>
                <a:latin typeface="Microsoft YaHei"/>
              </a:rPr>
              <a:t>市场机会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977639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  <a:latin typeface="Microsoft YaHei"/>
              </a:rPr>
              <a:t>企业智能体需求爆发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30000" y="30000"/>
                </a:moveTo>
                <a:lnTo>
                  <a:pt x="76000" y="30000"/>
                </a:lnTo>
              </a:path>
              <a:path w="100000" h="100000">
                <a:moveTo>
                  <a:pt x="30000" y="50000"/>
                </a:moveTo>
                <a:lnTo>
                  <a:pt x="76000" y="50000"/>
                </a:lnTo>
              </a:path>
              <a:path w="100000" h="100000">
                <a:moveTo>
                  <a:pt x="30000" y="70000"/>
                </a:moveTo>
                <a:lnTo>
                  <a:pt x="76000" y="70000"/>
                </a:lnTo>
              </a:path>
              <a:path w="100000" h="100000">
                <a:moveTo>
                  <a:pt x="24000" y="30000"/>
                </a:moveTo>
                <a:lnTo>
                  <a:pt x="23863" y="31035"/>
                </a:lnTo>
                <a:lnTo>
                  <a:pt x="23464" y="32000"/>
                </a:lnTo>
                <a:lnTo>
                  <a:pt x="22828" y="32828"/>
                </a:lnTo>
                <a:lnTo>
                  <a:pt x="22000" y="33464"/>
                </a:lnTo>
                <a:lnTo>
                  <a:pt x="21035" y="33863"/>
                </a:lnTo>
                <a:lnTo>
                  <a:pt x="20000" y="34000"/>
                </a:lnTo>
                <a:lnTo>
                  <a:pt x="18964" y="33863"/>
                </a:lnTo>
                <a:lnTo>
                  <a:pt x="18000" y="33464"/>
                </a:lnTo>
                <a:lnTo>
                  <a:pt x="17171" y="32828"/>
                </a:lnTo>
                <a:lnTo>
                  <a:pt x="16535" y="32000"/>
                </a:lnTo>
                <a:lnTo>
                  <a:pt x="16136" y="31035"/>
                </a:lnTo>
                <a:lnTo>
                  <a:pt x="16000" y="30000"/>
                </a:lnTo>
                <a:lnTo>
                  <a:pt x="16136" y="28964"/>
                </a:lnTo>
                <a:lnTo>
                  <a:pt x="16535" y="28000"/>
                </a:lnTo>
                <a:lnTo>
                  <a:pt x="17171" y="27171"/>
                </a:lnTo>
                <a:lnTo>
                  <a:pt x="18000" y="26535"/>
                </a:lnTo>
                <a:lnTo>
                  <a:pt x="18964" y="26136"/>
                </a:lnTo>
                <a:lnTo>
                  <a:pt x="20000" y="26000"/>
                </a:lnTo>
                <a:lnTo>
                  <a:pt x="21035" y="26136"/>
                </a:lnTo>
                <a:lnTo>
                  <a:pt x="22000" y="26535"/>
                </a:lnTo>
                <a:lnTo>
                  <a:pt x="22828" y="27171"/>
                </a:lnTo>
                <a:lnTo>
                  <a:pt x="23464" y="28000"/>
                </a:lnTo>
                <a:lnTo>
                  <a:pt x="23863" y="28964"/>
                </a:lnTo>
                <a:lnTo>
                  <a:pt x="24000" y="30000"/>
                </a:lnTo>
                <a:close/>
              </a:path>
              <a:path w="100000" h="100000">
                <a:moveTo>
                  <a:pt x="24000" y="50000"/>
                </a:moveTo>
                <a:lnTo>
                  <a:pt x="23863" y="51035"/>
                </a:lnTo>
                <a:lnTo>
                  <a:pt x="23464" y="52000"/>
                </a:lnTo>
                <a:lnTo>
                  <a:pt x="22828" y="52828"/>
                </a:lnTo>
                <a:lnTo>
                  <a:pt x="22000" y="53464"/>
                </a:lnTo>
                <a:lnTo>
                  <a:pt x="21035" y="53863"/>
                </a:lnTo>
                <a:lnTo>
                  <a:pt x="20000" y="54000"/>
                </a:lnTo>
                <a:lnTo>
                  <a:pt x="18964" y="53863"/>
                </a:lnTo>
                <a:lnTo>
                  <a:pt x="18000" y="53464"/>
                </a:lnTo>
                <a:lnTo>
                  <a:pt x="17171" y="52828"/>
                </a:lnTo>
                <a:lnTo>
                  <a:pt x="16535" y="52000"/>
                </a:lnTo>
                <a:lnTo>
                  <a:pt x="16136" y="51035"/>
                </a:lnTo>
                <a:lnTo>
                  <a:pt x="16000" y="50000"/>
                </a:lnTo>
                <a:lnTo>
                  <a:pt x="16136" y="48964"/>
                </a:lnTo>
                <a:lnTo>
                  <a:pt x="16535" y="48000"/>
                </a:lnTo>
                <a:lnTo>
                  <a:pt x="17171" y="47171"/>
                </a:lnTo>
                <a:lnTo>
                  <a:pt x="18000" y="46535"/>
                </a:lnTo>
                <a:lnTo>
                  <a:pt x="18964" y="46136"/>
                </a:lnTo>
                <a:lnTo>
                  <a:pt x="20000" y="46000"/>
                </a:lnTo>
                <a:lnTo>
                  <a:pt x="21035" y="46136"/>
                </a:lnTo>
                <a:lnTo>
                  <a:pt x="22000" y="46535"/>
                </a:lnTo>
                <a:lnTo>
                  <a:pt x="22828" y="47171"/>
                </a:lnTo>
                <a:lnTo>
                  <a:pt x="23464" y="48000"/>
                </a:lnTo>
                <a:lnTo>
                  <a:pt x="23863" y="48964"/>
                </a:lnTo>
                <a:lnTo>
                  <a:pt x="24000" y="50000"/>
                </a:lnTo>
                <a:close/>
              </a:path>
              <a:path w="100000" h="100000">
                <a:moveTo>
                  <a:pt x="24000" y="70000"/>
                </a:moveTo>
                <a:lnTo>
                  <a:pt x="23863" y="71035"/>
                </a:lnTo>
                <a:lnTo>
                  <a:pt x="23464" y="72000"/>
                </a:lnTo>
                <a:lnTo>
                  <a:pt x="22828" y="72828"/>
                </a:lnTo>
                <a:lnTo>
                  <a:pt x="22000" y="73464"/>
                </a:lnTo>
                <a:lnTo>
                  <a:pt x="21035" y="73863"/>
                </a:lnTo>
                <a:lnTo>
                  <a:pt x="20000" y="74000"/>
                </a:lnTo>
                <a:lnTo>
                  <a:pt x="18964" y="73863"/>
                </a:lnTo>
                <a:lnTo>
                  <a:pt x="18000" y="73464"/>
                </a:lnTo>
                <a:lnTo>
                  <a:pt x="17171" y="72828"/>
                </a:lnTo>
                <a:lnTo>
                  <a:pt x="16535" y="72000"/>
                </a:lnTo>
                <a:lnTo>
                  <a:pt x="16136" y="71035"/>
                </a:lnTo>
                <a:lnTo>
                  <a:pt x="16000" y="70000"/>
                </a:lnTo>
                <a:lnTo>
                  <a:pt x="16136" y="68964"/>
                </a:lnTo>
                <a:lnTo>
                  <a:pt x="16535" y="68000"/>
                </a:lnTo>
                <a:lnTo>
                  <a:pt x="17171" y="67171"/>
                </a:lnTo>
                <a:lnTo>
                  <a:pt x="18000" y="66535"/>
                </a:lnTo>
                <a:lnTo>
                  <a:pt x="18964" y="66136"/>
                </a:lnTo>
                <a:lnTo>
                  <a:pt x="20000" y="66000"/>
                </a:lnTo>
                <a:lnTo>
                  <a:pt x="21035" y="66136"/>
                </a:lnTo>
                <a:lnTo>
                  <a:pt x="22000" y="66535"/>
                </a:lnTo>
                <a:lnTo>
                  <a:pt x="22828" y="67171"/>
                </a:lnTo>
                <a:lnTo>
                  <a:pt x="23464" y="68000"/>
                </a:lnTo>
                <a:lnTo>
                  <a:pt x="23863" y="68964"/>
                </a:lnTo>
                <a:lnTo>
                  <a:pt x="24000" y="7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64207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企业知识孤岛严重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38528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Microsoft YaHei"/>
              </a:rPr>
              <a:t> 80% 内部文档无法被检索调用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31136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21408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人工流程成本高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05456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Microsoft YaHei"/>
              </a:rPr>
              <a:t> 重复性办公任务占工时 40%+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98064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88336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大模型能力成熟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72384"/>
            <a:ext cx="10241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Microsoft YaHei"/>
              </a:rPr>
              <a:t> 多模态 + 长上下文让 Agent 可落地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cover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0000" y="74000"/>
                </a:moveTo>
                <a:lnTo>
                  <a:pt x="20000" y="26000"/>
                </a:lnTo>
              </a:path>
              <a:path w="100000" h="100000">
                <a:moveTo>
                  <a:pt x="20000" y="74000"/>
                </a:moveTo>
                <a:lnTo>
                  <a:pt x="80000" y="74000"/>
                </a:lnTo>
              </a:path>
              <a:path w="100000" h="100000">
                <a:moveTo>
                  <a:pt x="30000" y="74000"/>
                </a:moveTo>
                <a:lnTo>
                  <a:pt x="30000" y="50000"/>
                </a:lnTo>
              </a:path>
              <a:path w="100000" h="100000">
                <a:moveTo>
                  <a:pt x="46000" y="74000"/>
                </a:moveTo>
                <a:lnTo>
                  <a:pt x="46000" y="36000"/>
                </a:lnTo>
              </a:path>
              <a:path w="100000" h="100000">
                <a:moveTo>
                  <a:pt x="62000" y="74000"/>
                </a:moveTo>
                <a:lnTo>
                  <a:pt x="62000" y="56000"/>
                </a:lnTo>
              </a:path>
              <a:path w="100000" h="100000">
                <a:moveTo>
                  <a:pt x="78000" y="74000"/>
                </a:moveTo>
                <a:lnTo>
                  <a:pt x="78000" y="30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市场规模 (亿美元)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645920"/>
          <a:ext cx="106984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182880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64592" cy="1828800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08960" y="2651760"/>
            <a:ext cx="18288" cy="146304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600" b="1" i="0">
                <a:solidFill>
                  <a:srgbClr val="3FB950"/>
                </a:solidFill>
                <a:latin typeface="Microsoft YaHei"/>
              </a:rPr>
              <a:t>02</a:t>
            </a:r>
          </a:p>
        </p:txBody>
      </p:sp>
      <p:sp>
        <p:nvSpPr>
          <p:cNvPr id="6" name="Oval 5"/>
          <p:cNvSpPr/>
          <p:nvPr/>
        </p:nvSpPr>
        <p:spPr>
          <a:xfrm>
            <a:off x="10332720" y="2697480"/>
            <a:ext cx="1188720" cy="1188720"/>
          </a:xfrm>
          <a:prstGeom prst="ellipse">
            <a:avLst/>
          </a:prstGeom>
          <a:noFill/>
          <a:ln w="19050">
            <a:solidFill>
              <a:srgbClr val="D4A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697480"/>
            <a:ext cx="67665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400" b="1" i="0">
                <a:solidFill>
                  <a:srgbClr val="D4A060"/>
                </a:solidFill>
                <a:latin typeface="Microsoft YaHei"/>
              </a:rPr>
              <a:t>产品矩阵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977639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8B949E"/>
                </a:solidFill>
                <a:latin typeface="Microsoft YaHei"/>
              </a:rPr>
              <a:t>四层一体化平台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4000" y="24000"/>
                </a:moveTo>
                <a:lnTo>
                  <a:pt x="46000" y="24000"/>
                </a:lnTo>
                <a:lnTo>
                  <a:pt x="46000" y="76000"/>
                </a:lnTo>
                <a:lnTo>
                  <a:pt x="24000" y="76000"/>
                </a:lnTo>
                <a:lnTo>
                  <a:pt x="24000" y="24000"/>
                </a:lnTo>
                <a:close/>
              </a:path>
              <a:path w="100000" h="100000">
                <a:moveTo>
                  <a:pt x="54000" y="24000"/>
                </a:moveTo>
                <a:lnTo>
                  <a:pt x="76000" y="24000"/>
                </a:lnTo>
                <a:lnTo>
                  <a:pt x="76000" y="76000"/>
                </a:lnTo>
                <a:lnTo>
                  <a:pt x="54000" y="76000"/>
                </a:lnTo>
                <a:lnTo>
                  <a:pt x="54000" y="24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产品矩阵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394960" cy="438912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394960" cy="4389120"/>
          </a:xfrm>
          <a:prstGeom prst="rect">
            <a:avLst/>
          </a:prstGeom>
          <a:solidFill>
            <a:srgbClr val="15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D4A060"/>
                </a:solidFill>
                <a:latin typeface="Microsoft YaHei"/>
              </a:rPr>
              <a:t>能力层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D4A060"/>
                </a:solidFill>
                <a:latin typeface="Microsoft YaHei"/>
              </a:rPr>
              <a:t>交付层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9572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知识中枢 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94436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3464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多模型调度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49300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MCP 插件市场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4164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技能编排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39572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228600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AI 对话框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94436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283464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学习中心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49300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59" y="338328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创作工坊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041648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3931920"/>
            <a:ext cx="45720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企业版 RBAC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random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84000" y="50000"/>
                </a:moveTo>
                <a:lnTo>
                  <a:pt x="82841" y="58799"/>
                </a:lnTo>
                <a:lnTo>
                  <a:pt x="79444" y="67000"/>
                </a:lnTo>
                <a:lnTo>
                  <a:pt x="74041" y="74041"/>
                </a:lnTo>
                <a:lnTo>
                  <a:pt x="67000" y="79444"/>
                </a:lnTo>
                <a:lnTo>
                  <a:pt x="58799" y="82841"/>
                </a:lnTo>
                <a:lnTo>
                  <a:pt x="50000" y="84000"/>
                </a:lnTo>
                <a:lnTo>
                  <a:pt x="41200" y="82841"/>
                </a:lnTo>
                <a:lnTo>
                  <a:pt x="33000" y="79444"/>
                </a:lnTo>
                <a:lnTo>
                  <a:pt x="25958" y="74041"/>
                </a:lnTo>
                <a:lnTo>
                  <a:pt x="20555" y="67000"/>
                </a:lnTo>
                <a:lnTo>
                  <a:pt x="17158" y="58799"/>
                </a:lnTo>
                <a:lnTo>
                  <a:pt x="16000" y="50000"/>
                </a:lnTo>
                <a:lnTo>
                  <a:pt x="17158" y="41200"/>
                </a:lnTo>
                <a:lnTo>
                  <a:pt x="20555" y="33000"/>
                </a:lnTo>
                <a:lnTo>
                  <a:pt x="25958" y="25958"/>
                </a:lnTo>
                <a:lnTo>
                  <a:pt x="32999" y="20555"/>
                </a:lnTo>
                <a:lnTo>
                  <a:pt x="41200" y="17158"/>
                </a:lnTo>
                <a:lnTo>
                  <a:pt x="49999" y="16000"/>
                </a:lnTo>
                <a:lnTo>
                  <a:pt x="58799" y="17158"/>
                </a:lnTo>
                <a:lnTo>
                  <a:pt x="67000" y="20555"/>
                </a:lnTo>
                <a:lnTo>
                  <a:pt x="74041" y="25958"/>
                </a:lnTo>
                <a:lnTo>
                  <a:pt x="79444" y="32999"/>
                </a:lnTo>
                <a:lnTo>
                  <a:pt x="82841" y="41200"/>
                </a:lnTo>
                <a:lnTo>
                  <a:pt x="84000" y="50000"/>
                </a:lnTo>
                <a:close/>
              </a:path>
              <a:path w="100000" h="100000">
                <a:moveTo>
                  <a:pt x="50000" y="50000"/>
                </a:moveTo>
                <a:lnTo>
                  <a:pt x="50000" y="26000"/>
                </a:lnTo>
              </a:path>
              <a:path w="100000" h="100000">
                <a:moveTo>
                  <a:pt x="50000" y="50000"/>
                </a:moveTo>
                <a:lnTo>
                  <a:pt x="70000" y="50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增长路线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657600"/>
            <a:ext cx="10332720" cy="36576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2369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P1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871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知识库+对话+RAG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687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189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P2 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189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学习路径+MCP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9005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507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P3 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507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知识图谱+沙盒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3234" y="3593592"/>
            <a:ext cx="164592" cy="164592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8250" y="265176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1" i="0">
                <a:solidFill>
                  <a:srgbClr val="D4A060"/>
                </a:solidFill>
                <a:latin typeface="Microsoft YaHei"/>
              </a:rPr>
              <a:t>P4 桌面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0" y="3794760"/>
            <a:ext cx="21945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Microsoft YaHei"/>
              </a:rPr>
              <a:t>Tauri+出海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0000" y="28000"/>
                </a:moveTo>
                <a:lnTo>
                  <a:pt x="80000" y="28000"/>
                </a:lnTo>
                <a:lnTo>
                  <a:pt x="80000" y="72000"/>
                </a:lnTo>
                <a:lnTo>
                  <a:pt x="20000" y="72000"/>
                </a:lnTo>
                <a:lnTo>
                  <a:pt x="20000" y="28000"/>
                </a:lnTo>
                <a:close/>
              </a:path>
              <a:path w="100000" h="100000">
                <a:moveTo>
                  <a:pt x="20000" y="48000"/>
                </a:moveTo>
                <a:lnTo>
                  <a:pt x="80000" y="48000"/>
                </a:lnTo>
              </a:path>
              <a:path w="100000" h="100000">
                <a:moveTo>
                  <a:pt x="44000" y="28000"/>
                </a:moveTo>
                <a:lnTo>
                  <a:pt x="44000" y="72000"/>
                </a:lnTo>
              </a:path>
              <a:path w="100000" h="100000">
                <a:moveTo>
                  <a:pt x="62000" y="28000"/>
                </a:moveTo>
                <a:lnTo>
                  <a:pt x="62000" y="72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商业模式对比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ARPU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毛利</a:t>
                      </a:r>
                    </a:p>
                  </a:txBody>
                  <a:tcPr>
                    <a:solidFill>
                      <a:srgbClr val="D4A060"/>
                    </a:solidFill>
                  </a:tcPr>
                </a:tc>
              </a:tr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免费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个人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会员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专业用户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¥99/月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85%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109728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企业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团队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¥1999/席/年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200" b="0">
                          <a:solidFill>
                            <a:srgbClr val="FFFFFF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151D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822960" cy="82296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4000" y="24000"/>
                </a:moveTo>
                <a:lnTo>
                  <a:pt x="24000" y="56000"/>
                </a:lnTo>
                <a:lnTo>
                  <a:pt x="44000" y="56000"/>
                </a:lnTo>
              </a:path>
              <a:path w="100000" h="100000">
                <a:moveTo>
                  <a:pt x="56000" y="24000"/>
                </a:moveTo>
                <a:lnTo>
                  <a:pt x="56000" y="56000"/>
                </a:lnTo>
                <a:lnTo>
                  <a:pt x="76000" y="56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3716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600" b="1" i="0">
                <a:solidFill>
                  <a:srgbClr val="D4A060"/>
                </a:solidFill>
                <a:latin typeface="Microsoft YaHe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601200" cy="2286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0" i="1">
                <a:solidFill>
                  <a:srgbClr val="FFFFFF"/>
                </a:solidFill>
                <a:latin typeface="Microsoft YaHei"/>
              </a:rPr>
              <a:t>让每个企业都有自己的 AI 员工，从一份知识库开始。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58A6FF"/>
                </a:solidFill>
                <a:latin typeface="Microsoft YaHei"/>
              </a:rPr>
              <a:t>— Reasonix AI 使命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wipe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457200" cy="45720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86000" y="50000"/>
                </a:moveTo>
                <a:lnTo>
                  <a:pt x="84773" y="59317"/>
                </a:lnTo>
                <a:lnTo>
                  <a:pt x="81176" y="68000"/>
                </a:lnTo>
                <a:lnTo>
                  <a:pt x="75455" y="75455"/>
                </a:lnTo>
                <a:lnTo>
                  <a:pt x="68000" y="81176"/>
                </a:lnTo>
                <a:lnTo>
                  <a:pt x="59317" y="84773"/>
                </a:lnTo>
                <a:lnTo>
                  <a:pt x="50000" y="86000"/>
                </a:lnTo>
                <a:lnTo>
                  <a:pt x="40682" y="84773"/>
                </a:lnTo>
                <a:lnTo>
                  <a:pt x="32000" y="81176"/>
                </a:lnTo>
                <a:lnTo>
                  <a:pt x="24544" y="75455"/>
                </a:lnTo>
                <a:lnTo>
                  <a:pt x="18823" y="68000"/>
                </a:lnTo>
                <a:lnTo>
                  <a:pt x="15226" y="59317"/>
                </a:lnTo>
                <a:lnTo>
                  <a:pt x="14000" y="50000"/>
                </a:lnTo>
                <a:lnTo>
                  <a:pt x="15226" y="40682"/>
                </a:lnTo>
                <a:lnTo>
                  <a:pt x="18823" y="32000"/>
                </a:lnTo>
                <a:lnTo>
                  <a:pt x="24544" y="24544"/>
                </a:lnTo>
                <a:lnTo>
                  <a:pt x="31999" y="18823"/>
                </a:lnTo>
                <a:lnTo>
                  <a:pt x="40682" y="15226"/>
                </a:lnTo>
                <a:lnTo>
                  <a:pt x="49999" y="14000"/>
                </a:lnTo>
                <a:lnTo>
                  <a:pt x="59317" y="15226"/>
                </a:lnTo>
                <a:lnTo>
                  <a:pt x="68000" y="18823"/>
                </a:lnTo>
                <a:lnTo>
                  <a:pt x="75455" y="24544"/>
                </a:lnTo>
                <a:lnTo>
                  <a:pt x="81176" y="31999"/>
                </a:lnTo>
                <a:lnTo>
                  <a:pt x="84773" y="40682"/>
                </a:lnTo>
                <a:lnTo>
                  <a:pt x="86000" y="50000"/>
                </a:lnTo>
                <a:close/>
              </a:path>
              <a:path w="100000" h="100000">
                <a:moveTo>
                  <a:pt x="32000" y="52000"/>
                </a:moveTo>
                <a:lnTo>
                  <a:pt x="46000" y="66000"/>
                </a:lnTo>
                <a:lnTo>
                  <a:pt x="70000" y="36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657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D4A060"/>
                </a:solidFill>
                <a:latin typeface="Microsoft YaHei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024128"/>
            <a:ext cx="2011680" cy="54864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64207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市场窗口已打开，先发优势关键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67712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57984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知识中枢是壁垒，MCP 生态是杠杆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71216"/>
            <a:ext cx="109728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61488"/>
            <a:ext cx="102412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三层变现，企业版是高毛利引擎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solidFill>
            <a:srgbClr val="D4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486400"/>
            <a:ext cx="101498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本轮融资用于模型日历与海外合规，18 个月做到 10 万付费。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strips dir="rd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33288" y="1280160"/>
            <a:ext cx="731520" cy="731520"/>
          </a:xfrm>
          <a:noFill/>
          <a:ln w="19050">
            <a:solidFill>
              <a:srgbClr val="D4A060"/>
            </a:solidFill>
          </a:ln>
          <a:effectLst/>
          <a:custGeom>
            <a:pathLst>
              <a:path w="100000" h="100000">
                <a:moveTo>
                  <a:pt x="20000" y="30000"/>
                </a:moveTo>
                <a:lnTo>
                  <a:pt x="80000" y="30000"/>
                </a:lnTo>
                <a:lnTo>
                  <a:pt x="80000" y="70000"/>
                </a:lnTo>
                <a:lnTo>
                  <a:pt x="20000" y="70000"/>
                </a:lnTo>
                <a:lnTo>
                  <a:pt x="20000" y="30000"/>
                </a:lnTo>
                <a:close/>
              </a:path>
              <a:path w="100000" h="100000">
                <a:moveTo>
                  <a:pt x="20000" y="30000"/>
                </a:moveTo>
                <a:lnTo>
                  <a:pt x="50000" y="52000"/>
                </a:lnTo>
                <a:lnTo>
                  <a:pt x="80000" y="30000"/>
                </a:ln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600" b="1" i="0">
                <a:solidFill>
                  <a:srgbClr val="D4A060"/>
                </a:solidFill>
                <a:latin typeface="Microsoft YaHei"/>
              </a:rPr>
              <a:t>联系我们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Microsoft YaHei"/>
              </a:rPr>
              <a:t>invest@reasonix.ai · 微信 aibak2026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Microsoft YaHei"/>
              </a:rPr>
              <a:t>Reasonix AI · 机密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8B949E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500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58A6FF"/>
      </a:dk2>
      <a:lt2>
        <a:srgbClr val="151D2E"/>
      </a:lt2>
      <a:accent1>
        <a:srgbClr val="D4A060"/>
      </a:accent1>
      <a:accent2>
        <a:srgbClr val="58A6FF"/>
      </a:accent2>
      <a:accent3>
        <a:srgbClr val="3FB950"/>
      </a:accent3>
      <a:accent4>
        <a:srgbClr val="8B949E"/>
      </a:accent4>
      <a:accent5>
        <a:srgbClr val="30363D"/>
      </a:accent5>
      <a:accent6>
        <a:srgbClr val="D4A060"/>
      </a:accent6>
    </a:clrScheme>
    <a:fontScheme name="Office">
      <a:majorFont>
        <a:latin typeface="Microsoft YaHe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