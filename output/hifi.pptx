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ifi_projec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ifi_projec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 sz="1350"/>
      </a:defPPr>
      <a:lvl1pPr marL="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5998845" y="1457325"/>
            <a:ext cx="194310" cy="340995"/>
            <a:chOff x="5998845" y="1457325"/>
            <a:chExt cx="194310" cy="340995"/>
          </a:xfrm>
        </p:grpSpPr>
        <p:sp>
          <p:nvSpPr>
            <p:cNvPr id="2" name="Freeform 2"/>
            <p:cNvSpPr/>
            <p:nvPr/>
          </p:nvSpPr>
          <p:spPr>
            <a:xfrm>
              <a:off x="6035040" y="1457325"/>
              <a:ext cx="121920" cy="243840"/>
            </a:xfrm>
            <a:custGeom>
              <a:avLst/>
              <a:gdLst/>
              <a:ahLst/>
              <a:cxnLst/>
              <a:rect l="l" t="t" r="r" b="b"/>
              <a:pathLst>
                <a:path w="121920" h="243840">
                  <a:moveTo>
                    <a:pt x="0" y="0"/>
                  </a:moveTo>
                  <a:lnTo>
                    <a:pt x="121920" y="36195"/>
                  </a:lnTo>
                  <a:lnTo>
                    <a:pt x="109538" y="243840"/>
                  </a:lnTo>
                  <a:lnTo>
                    <a:pt x="12382" y="24384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3619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5998845" y="1701165"/>
              <a:ext cx="60960" cy="97155"/>
            </a:xfrm>
            <a:custGeom>
              <a:avLst/>
              <a:gdLst/>
              <a:ahLst/>
              <a:cxnLst/>
              <a:rect l="l" t="t" r="r" b="b"/>
              <a:pathLst>
                <a:path w="60960" h="97155">
                  <a:moveTo>
                    <a:pt x="48578" y="0"/>
                  </a:moveTo>
                  <a:lnTo>
                    <a:pt x="0" y="97155"/>
                  </a:lnTo>
                  <a:lnTo>
                    <a:pt x="60960" y="60960"/>
                  </a:lnTo>
                </a:path>
              </a:pathLst>
            </a:custGeom>
            <a:noFill/>
            <a:ln w="36195" cap="rnd">
              <a:solidFill>
                <a:schemeClr val="accent1"/>
              </a:solidFill>
              <a:round/>
            </a:ln>
          </p:spPr>
        </p:sp>
        <p:sp>
          <p:nvSpPr>
            <p:cNvPr id="4" name="Freeform 4"/>
            <p:cNvSpPr/>
            <p:nvPr/>
          </p:nvSpPr>
          <p:spPr>
            <a:xfrm>
              <a:off x="6132195" y="1701165"/>
              <a:ext cx="60960" cy="97155"/>
            </a:xfrm>
            <a:custGeom>
              <a:avLst/>
              <a:gdLst/>
              <a:ahLst/>
              <a:cxnLst/>
              <a:rect l="l" t="t" r="r" b="b"/>
              <a:pathLst>
                <a:path w="60960" h="97155">
                  <a:moveTo>
                    <a:pt x="12383" y="0"/>
                  </a:moveTo>
                  <a:lnTo>
                    <a:pt x="60960" y="97155"/>
                  </a:lnTo>
                  <a:lnTo>
                    <a:pt x="0" y="60960"/>
                  </a:lnTo>
                </a:path>
              </a:pathLst>
            </a:custGeom>
            <a:noFill/>
            <a:ln w="36195" cap="rnd">
              <a:solidFill>
                <a:schemeClr val="accent1"/>
              </a:solidFill>
              <a:round/>
            </a:ln>
          </p:spPr>
        </p:sp>
        <p:sp>
          <p:nvSpPr>
            <p:cNvPr id="5" name="Freeform 5"/>
            <p:cNvSpPr/>
            <p:nvPr/>
          </p:nvSpPr>
          <p:spPr>
            <a:xfrm>
              <a:off x="6059805" y="1518285"/>
              <a:ext cx="72390" cy="72390"/>
            </a:xfrm>
            <a:custGeom>
              <a:avLst/>
              <a:gdLst/>
              <a:ahLst/>
              <a:cxnLst/>
              <a:rect l="l" t="t" r="r" b="b"/>
              <a:pathLst>
                <a:path w="72390" h="72390">
                  <a:moveTo>
                    <a:pt x="72390" y="36195"/>
                  </a:moveTo>
                  <a:lnTo>
                    <a:pt x="71438" y="45720"/>
                  </a:lnTo>
                  <a:lnTo>
                    <a:pt x="67627" y="54292"/>
                  </a:lnTo>
                  <a:lnTo>
                    <a:pt x="61912" y="61912"/>
                  </a:lnTo>
                  <a:lnTo>
                    <a:pt x="54292" y="67627"/>
                  </a:lnTo>
                  <a:lnTo>
                    <a:pt x="45720" y="71438"/>
                  </a:lnTo>
                  <a:lnTo>
                    <a:pt x="36195" y="72390"/>
                  </a:lnTo>
                  <a:lnTo>
                    <a:pt x="26670" y="71438"/>
                  </a:lnTo>
                  <a:lnTo>
                    <a:pt x="18097" y="67627"/>
                  </a:lnTo>
                  <a:lnTo>
                    <a:pt x="10477" y="61912"/>
                  </a:lnTo>
                  <a:lnTo>
                    <a:pt x="4762" y="54292"/>
                  </a:lnTo>
                  <a:lnTo>
                    <a:pt x="952" y="45720"/>
                  </a:lnTo>
                  <a:lnTo>
                    <a:pt x="0" y="36195"/>
                  </a:lnTo>
                  <a:lnTo>
                    <a:pt x="952" y="26670"/>
                  </a:lnTo>
                  <a:lnTo>
                    <a:pt x="4762" y="18098"/>
                  </a:lnTo>
                  <a:lnTo>
                    <a:pt x="10477" y="10477"/>
                  </a:lnTo>
                  <a:lnTo>
                    <a:pt x="18097" y="4762"/>
                  </a:lnTo>
                  <a:lnTo>
                    <a:pt x="26670" y="952"/>
                  </a:lnTo>
                  <a:lnTo>
                    <a:pt x="36195" y="0"/>
                  </a:lnTo>
                  <a:lnTo>
                    <a:pt x="45720" y="952"/>
                  </a:lnTo>
                  <a:lnTo>
                    <a:pt x="54292" y="4762"/>
                  </a:lnTo>
                  <a:lnTo>
                    <a:pt x="61912" y="10477"/>
                  </a:lnTo>
                  <a:lnTo>
                    <a:pt x="67627" y="18098"/>
                  </a:lnTo>
                  <a:lnTo>
                    <a:pt x="71438" y="26670"/>
                  </a:lnTo>
                  <a:lnTo>
                    <a:pt x="72390" y="36195"/>
                  </a:lnTo>
                  <a:close/>
                </a:path>
              </a:pathLst>
            </a:custGeom>
            <a:noFill/>
            <a:ln w="36195" cap="rnd">
              <a:solidFill>
                <a:schemeClr val="accent1"/>
              </a:solidFill>
              <a:round/>
            </a:ln>
          </p:spPr>
        </p:sp>
      </p:grpSp>
      <p:sp>
        <p:nvSpPr>
          <p:cNvPr id="7" name="TextBox 7"/>
          <p:cNvSpPr txBox="1"/>
          <p:nvPr/>
        </p:nvSpPr>
        <p:spPr>
          <a:xfrm>
            <a:off x="2682257" y="2383107"/>
            <a:ext cx="6827486" cy="89487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6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AI Agent 平台商业计划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65162" y="3842433"/>
            <a:ext cx="7461675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0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一站式 AI Agent 商业平台 · 知识管理 · 智能工具 · 团队协作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722620" y="4939617"/>
            <a:ext cx="2746759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2026 投资人路演 · 免费开源可商用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wipe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/>
          <p:cNvGrpSpPr/>
          <p:nvPr/>
        </p:nvGrpSpPr>
        <p:grpSpPr>
          <a:xfrm>
            <a:off x="605790" y="476250"/>
            <a:ext cx="213360" cy="170497"/>
            <a:chOff x="605790" y="476250"/>
            <a:chExt cx="213360" cy="170497"/>
          </a:xfrm>
        </p:grpSpPr>
        <p:sp>
          <p:nvSpPr>
            <p:cNvPr id="2" name="Freeform 2"/>
            <p:cNvSpPr/>
            <p:nvPr/>
          </p:nvSpPr>
          <p:spPr>
            <a:xfrm>
              <a:off x="655320" y="490538"/>
              <a:ext cx="163830" cy="9525"/>
            </a:xfrm>
            <a:custGeom>
              <a:avLst/>
              <a:gdLst/>
              <a:ahLst/>
              <a:cxnLst/>
              <a:rect l="l" t="t" r="r" b="b"/>
              <a:pathLst>
                <a:path w="163830" h="9525">
                  <a:moveTo>
                    <a:pt x="0" y="0"/>
                  </a:moveTo>
                  <a:lnTo>
                    <a:pt x="16383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655320" y="561975"/>
              <a:ext cx="163830" cy="9525"/>
            </a:xfrm>
            <a:custGeom>
              <a:avLst/>
              <a:gdLst/>
              <a:ahLst/>
              <a:cxnLst/>
              <a:rect l="l" t="t" r="r" b="b"/>
              <a:pathLst>
                <a:path w="163830" h="9525">
                  <a:moveTo>
                    <a:pt x="0" y="0"/>
                  </a:moveTo>
                  <a:lnTo>
                    <a:pt x="16383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4" name="Freeform 4"/>
            <p:cNvSpPr/>
            <p:nvPr/>
          </p:nvSpPr>
          <p:spPr>
            <a:xfrm>
              <a:off x="655320" y="632460"/>
              <a:ext cx="163830" cy="9525"/>
            </a:xfrm>
            <a:custGeom>
              <a:avLst/>
              <a:gdLst/>
              <a:ahLst/>
              <a:cxnLst/>
              <a:rect l="l" t="t" r="r" b="b"/>
              <a:pathLst>
                <a:path w="163830" h="9525">
                  <a:moveTo>
                    <a:pt x="0" y="0"/>
                  </a:moveTo>
                  <a:lnTo>
                    <a:pt x="16383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5" name="Freeform 5"/>
            <p:cNvSpPr/>
            <p:nvPr/>
          </p:nvSpPr>
          <p:spPr>
            <a:xfrm>
              <a:off x="605790" y="476250"/>
              <a:ext cx="28575" cy="28575"/>
            </a:xfrm>
            <a:custGeom>
              <a:avLst/>
              <a:gdLst/>
              <a:ahLst/>
              <a:cxnLst/>
              <a:rect l="l" t="t" r="r" b="b"/>
              <a:pathLst>
                <a:path w="28575" h="28575">
                  <a:moveTo>
                    <a:pt x="28575" y="14288"/>
                  </a:moveTo>
                  <a:lnTo>
                    <a:pt x="27622" y="18097"/>
                  </a:lnTo>
                  <a:lnTo>
                    <a:pt x="26670" y="20955"/>
                  </a:lnTo>
                  <a:lnTo>
                    <a:pt x="23812" y="24765"/>
                  </a:lnTo>
                  <a:lnTo>
                    <a:pt x="20955" y="26670"/>
                  </a:lnTo>
                  <a:lnTo>
                    <a:pt x="18097" y="27622"/>
                  </a:lnTo>
                  <a:lnTo>
                    <a:pt x="14287" y="28575"/>
                  </a:lnTo>
                  <a:lnTo>
                    <a:pt x="10478" y="27622"/>
                  </a:lnTo>
                  <a:lnTo>
                    <a:pt x="6667" y="26670"/>
                  </a:lnTo>
                  <a:lnTo>
                    <a:pt x="3810" y="24765"/>
                  </a:lnTo>
                  <a:lnTo>
                    <a:pt x="1905" y="20955"/>
                  </a:lnTo>
                  <a:lnTo>
                    <a:pt x="0" y="18097"/>
                  </a:lnTo>
                  <a:lnTo>
                    <a:pt x="0" y="14288"/>
                  </a:lnTo>
                  <a:lnTo>
                    <a:pt x="0" y="10477"/>
                  </a:lnTo>
                  <a:lnTo>
                    <a:pt x="1905" y="7620"/>
                  </a:lnTo>
                  <a:lnTo>
                    <a:pt x="3810" y="3810"/>
                  </a:lnTo>
                  <a:lnTo>
                    <a:pt x="6667" y="1905"/>
                  </a:lnTo>
                  <a:lnTo>
                    <a:pt x="10478" y="952"/>
                  </a:lnTo>
                  <a:lnTo>
                    <a:pt x="14287" y="0"/>
                  </a:lnTo>
                  <a:lnTo>
                    <a:pt x="18097" y="952"/>
                  </a:lnTo>
                  <a:lnTo>
                    <a:pt x="20955" y="1905"/>
                  </a:lnTo>
                  <a:lnTo>
                    <a:pt x="23812" y="3810"/>
                  </a:lnTo>
                  <a:lnTo>
                    <a:pt x="26670" y="7620"/>
                  </a:lnTo>
                  <a:lnTo>
                    <a:pt x="27622" y="10477"/>
                  </a:lnTo>
                  <a:lnTo>
                    <a:pt x="28575" y="14288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6" name="Freeform 6"/>
            <p:cNvSpPr/>
            <p:nvPr/>
          </p:nvSpPr>
          <p:spPr>
            <a:xfrm>
              <a:off x="605790" y="547688"/>
              <a:ext cx="28575" cy="28575"/>
            </a:xfrm>
            <a:custGeom>
              <a:avLst/>
              <a:gdLst/>
              <a:ahLst/>
              <a:cxnLst/>
              <a:rect l="l" t="t" r="r" b="b"/>
              <a:pathLst>
                <a:path w="28575" h="28575">
                  <a:moveTo>
                    <a:pt x="28575" y="14288"/>
                  </a:moveTo>
                  <a:lnTo>
                    <a:pt x="27622" y="18097"/>
                  </a:lnTo>
                  <a:lnTo>
                    <a:pt x="26670" y="20955"/>
                  </a:lnTo>
                  <a:lnTo>
                    <a:pt x="23812" y="23812"/>
                  </a:lnTo>
                  <a:lnTo>
                    <a:pt x="20955" y="26670"/>
                  </a:lnTo>
                  <a:lnTo>
                    <a:pt x="18097" y="27622"/>
                  </a:lnTo>
                  <a:lnTo>
                    <a:pt x="14287" y="28575"/>
                  </a:lnTo>
                  <a:lnTo>
                    <a:pt x="10478" y="27622"/>
                  </a:lnTo>
                  <a:lnTo>
                    <a:pt x="6667" y="26670"/>
                  </a:lnTo>
                  <a:lnTo>
                    <a:pt x="3810" y="23812"/>
                  </a:lnTo>
                  <a:lnTo>
                    <a:pt x="1905" y="20955"/>
                  </a:lnTo>
                  <a:lnTo>
                    <a:pt x="0" y="18097"/>
                  </a:lnTo>
                  <a:lnTo>
                    <a:pt x="0" y="14288"/>
                  </a:lnTo>
                  <a:lnTo>
                    <a:pt x="0" y="10477"/>
                  </a:lnTo>
                  <a:lnTo>
                    <a:pt x="1905" y="6667"/>
                  </a:lnTo>
                  <a:lnTo>
                    <a:pt x="3810" y="3810"/>
                  </a:lnTo>
                  <a:lnTo>
                    <a:pt x="6667" y="1905"/>
                  </a:lnTo>
                  <a:lnTo>
                    <a:pt x="10478" y="0"/>
                  </a:lnTo>
                  <a:lnTo>
                    <a:pt x="14287" y="0"/>
                  </a:lnTo>
                  <a:lnTo>
                    <a:pt x="18097" y="0"/>
                  </a:lnTo>
                  <a:lnTo>
                    <a:pt x="20955" y="1905"/>
                  </a:lnTo>
                  <a:lnTo>
                    <a:pt x="23812" y="3810"/>
                  </a:lnTo>
                  <a:lnTo>
                    <a:pt x="26670" y="6667"/>
                  </a:lnTo>
                  <a:lnTo>
                    <a:pt x="27622" y="10477"/>
                  </a:lnTo>
                  <a:lnTo>
                    <a:pt x="28575" y="14288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7" name="Freeform 7"/>
            <p:cNvSpPr/>
            <p:nvPr/>
          </p:nvSpPr>
          <p:spPr>
            <a:xfrm>
              <a:off x="605790" y="618172"/>
              <a:ext cx="28575" cy="28575"/>
            </a:xfrm>
            <a:custGeom>
              <a:avLst/>
              <a:gdLst/>
              <a:ahLst/>
              <a:cxnLst/>
              <a:rect l="l" t="t" r="r" b="b"/>
              <a:pathLst>
                <a:path w="28575" h="28575">
                  <a:moveTo>
                    <a:pt x="28575" y="14288"/>
                  </a:moveTo>
                  <a:lnTo>
                    <a:pt x="27622" y="18097"/>
                  </a:lnTo>
                  <a:lnTo>
                    <a:pt x="26670" y="21907"/>
                  </a:lnTo>
                  <a:lnTo>
                    <a:pt x="23812" y="24765"/>
                  </a:lnTo>
                  <a:lnTo>
                    <a:pt x="20955" y="26670"/>
                  </a:lnTo>
                  <a:lnTo>
                    <a:pt x="18097" y="28575"/>
                  </a:lnTo>
                  <a:lnTo>
                    <a:pt x="14287" y="28575"/>
                  </a:lnTo>
                  <a:lnTo>
                    <a:pt x="10478" y="28575"/>
                  </a:lnTo>
                  <a:lnTo>
                    <a:pt x="6667" y="26670"/>
                  </a:lnTo>
                  <a:lnTo>
                    <a:pt x="3810" y="24765"/>
                  </a:lnTo>
                  <a:lnTo>
                    <a:pt x="1905" y="21907"/>
                  </a:lnTo>
                  <a:lnTo>
                    <a:pt x="0" y="18097"/>
                  </a:lnTo>
                  <a:lnTo>
                    <a:pt x="0" y="14288"/>
                  </a:lnTo>
                  <a:lnTo>
                    <a:pt x="0" y="10477"/>
                  </a:lnTo>
                  <a:lnTo>
                    <a:pt x="1905" y="7620"/>
                  </a:lnTo>
                  <a:lnTo>
                    <a:pt x="3810" y="4762"/>
                  </a:lnTo>
                  <a:lnTo>
                    <a:pt x="6667" y="1905"/>
                  </a:lnTo>
                  <a:lnTo>
                    <a:pt x="10478" y="952"/>
                  </a:lnTo>
                  <a:lnTo>
                    <a:pt x="14287" y="0"/>
                  </a:lnTo>
                  <a:lnTo>
                    <a:pt x="18097" y="952"/>
                  </a:lnTo>
                  <a:lnTo>
                    <a:pt x="20955" y="1905"/>
                  </a:lnTo>
                  <a:lnTo>
                    <a:pt x="23812" y="4762"/>
                  </a:lnTo>
                  <a:lnTo>
                    <a:pt x="26670" y="7620"/>
                  </a:lnTo>
                  <a:lnTo>
                    <a:pt x="27622" y="10477"/>
                  </a:lnTo>
                  <a:lnTo>
                    <a:pt x="28575" y="14288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1083069" y="369522"/>
            <a:ext cx="819281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10" name="Rectangle 10"/>
          <p:cNvSpPr/>
          <p:nvPr/>
        </p:nvSpPr>
        <p:spPr>
          <a:xfrm>
            <a:off x="109728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812787" y="163263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46365" y="1556337"/>
            <a:ext cx="876452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市场机会</a:t>
            </a:r>
          </a:p>
        </p:txBody>
      </p:sp>
      <p:sp>
        <p:nvSpPr>
          <p:cNvPr id="13" name="Line 13"/>
          <p:cNvSpPr/>
          <p:nvPr/>
        </p:nvSpPr>
        <p:spPr>
          <a:xfrm>
            <a:off x="822960" y="227647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812787" y="240987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6365" y="2333577"/>
            <a:ext cx="876452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产品矩阵</a:t>
            </a:r>
          </a:p>
        </p:txBody>
      </p:sp>
      <p:sp>
        <p:nvSpPr>
          <p:cNvPr id="16" name="Line 16"/>
          <p:cNvSpPr/>
          <p:nvPr/>
        </p:nvSpPr>
        <p:spPr>
          <a:xfrm>
            <a:off x="822960" y="305371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12787" y="318711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546365" y="3110817"/>
            <a:ext cx="876452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商业模式</a:t>
            </a:r>
          </a:p>
        </p:txBody>
      </p:sp>
      <p:sp>
        <p:nvSpPr>
          <p:cNvPr id="19" name="Line 19"/>
          <p:cNvSpPr/>
          <p:nvPr/>
        </p:nvSpPr>
        <p:spPr>
          <a:xfrm>
            <a:off x="822960" y="383095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812787" y="396435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546365" y="3888057"/>
            <a:ext cx="876452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增长路线</a:t>
            </a:r>
          </a:p>
        </p:txBody>
      </p:sp>
      <p:sp>
        <p:nvSpPr>
          <p:cNvPr id="22" name="Line 22"/>
          <p:cNvSpPr/>
          <p:nvPr/>
        </p:nvSpPr>
        <p:spPr>
          <a:xfrm>
            <a:off x="822960" y="460819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812787" y="474159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546365" y="4665297"/>
            <a:ext cx="1091508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团队与融资</a:t>
            </a:r>
          </a:p>
        </p:txBody>
      </p:sp>
      <p:sp>
        <p:nvSpPr>
          <p:cNvPr id="25" name="Line 25"/>
          <p:cNvSpPr/>
          <p:nvPr/>
        </p:nvSpPr>
        <p:spPr>
          <a:xfrm>
            <a:off x="822960" y="538543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2468880"/>
            <a:ext cx="12192000" cy="1828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2468880"/>
            <a:ext cx="38100" cy="18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Line 4"/>
          <p:cNvSpPr/>
          <p:nvPr/>
        </p:nvSpPr>
        <p:spPr>
          <a:xfrm>
            <a:off x="3108960" y="2651760"/>
            <a:ext cx="9525" cy="1463040"/>
          </a:xfrm>
          <a:custGeom>
            <a:avLst/>
            <a:gdLst/>
            <a:ahLst/>
            <a:cxnLst/>
            <a:rect l="l" t="t" r="r" b="b"/>
            <a:pathLst>
              <a:path w="9525" h="1463040">
                <a:moveTo>
                  <a:pt x="0" y="0"/>
                </a:moveTo>
                <a:lnTo>
                  <a:pt x="0" y="146304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5" name="Ellipse 5"/>
          <p:cNvSpPr/>
          <p:nvPr/>
        </p:nvSpPr>
        <p:spPr>
          <a:xfrm>
            <a:off x="10297478" y="2799398"/>
            <a:ext cx="1167765" cy="1167765"/>
          </a:xfrm>
          <a:prstGeom prst="ellipse">
            <a:avLst/>
          </a:prstGeom>
          <a:noFill/>
          <a:ln w="19050">
            <a:solidFill>
              <a:schemeClr val="accent1">
                <a:alpha val="50000"/>
              </a:schemeClr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1063417" y="2892742"/>
            <a:ext cx="1530767" cy="1847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6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366021" y="2702195"/>
            <a:ext cx="1955479" cy="6644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市场机会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376155" y="3888153"/>
            <a:ext cx="1713490" cy="27430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企业智能体需求爆发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plit orient="horz" dir="ou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/>
          <p:cNvGrpSpPr/>
          <p:nvPr/>
        </p:nvGrpSpPr>
        <p:grpSpPr>
          <a:xfrm>
            <a:off x="605790" y="476250"/>
            <a:ext cx="213360" cy="170497"/>
            <a:chOff x="605790" y="476250"/>
            <a:chExt cx="213360" cy="170497"/>
          </a:xfrm>
        </p:grpSpPr>
        <p:sp>
          <p:nvSpPr>
            <p:cNvPr id="2" name="Freeform 2"/>
            <p:cNvSpPr/>
            <p:nvPr/>
          </p:nvSpPr>
          <p:spPr>
            <a:xfrm>
              <a:off x="655320" y="490538"/>
              <a:ext cx="163830" cy="9525"/>
            </a:xfrm>
            <a:custGeom>
              <a:avLst/>
              <a:gdLst/>
              <a:ahLst/>
              <a:cxnLst/>
              <a:rect l="l" t="t" r="r" b="b"/>
              <a:pathLst>
                <a:path w="163830" h="9525">
                  <a:moveTo>
                    <a:pt x="0" y="0"/>
                  </a:moveTo>
                  <a:lnTo>
                    <a:pt x="16383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655320" y="561975"/>
              <a:ext cx="163830" cy="9525"/>
            </a:xfrm>
            <a:custGeom>
              <a:avLst/>
              <a:gdLst/>
              <a:ahLst/>
              <a:cxnLst/>
              <a:rect l="l" t="t" r="r" b="b"/>
              <a:pathLst>
                <a:path w="163830" h="9525">
                  <a:moveTo>
                    <a:pt x="0" y="0"/>
                  </a:moveTo>
                  <a:lnTo>
                    <a:pt x="16383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4" name="Freeform 4"/>
            <p:cNvSpPr/>
            <p:nvPr/>
          </p:nvSpPr>
          <p:spPr>
            <a:xfrm>
              <a:off x="655320" y="632460"/>
              <a:ext cx="163830" cy="9525"/>
            </a:xfrm>
            <a:custGeom>
              <a:avLst/>
              <a:gdLst/>
              <a:ahLst/>
              <a:cxnLst/>
              <a:rect l="l" t="t" r="r" b="b"/>
              <a:pathLst>
                <a:path w="163830" h="9525">
                  <a:moveTo>
                    <a:pt x="0" y="0"/>
                  </a:moveTo>
                  <a:lnTo>
                    <a:pt x="16383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5" name="Freeform 5"/>
            <p:cNvSpPr/>
            <p:nvPr/>
          </p:nvSpPr>
          <p:spPr>
            <a:xfrm>
              <a:off x="605790" y="476250"/>
              <a:ext cx="28575" cy="28575"/>
            </a:xfrm>
            <a:custGeom>
              <a:avLst/>
              <a:gdLst/>
              <a:ahLst/>
              <a:cxnLst/>
              <a:rect l="l" t="t" r="r" b="b"/>
              <a:pathLst>
                <a:path w="28575" h="28575">
                  <a:moveTo>
                    <a:pt x="28575" y="14288"/>
                  </a:moveTo>
                  <a:lnTo>
                    <a:pt x="27622" y="18097"/>
                  </a:lnTo>
                  <a:lnTo>
                    <a:pt x="26670" y="20955"/>
                  </a:lnTo>
                  <a:lnTo>
                    <a:pt x="23812" y="24765"/>
                  </a:lnTo>
                  <a:lnTo>
                    <a:pt x="20955" y="26670"/>
                  </a:lnTo>
                  <a:lnTo>
                    <a:pt x="18097" y="27622"/>
                  </a:lnTo>
                  <a:lnTo>
                    <a:pt x="14287" y="28575"/>
                  </a:lnTo>
                  <a:lnTo>
                    <a:pt x="10478" y="27622"/>
                  </a:lnTo>
                  <a:lnTo>
                    <a:pt x="6667" y="26670"/>
                  </a:lnTo>
                  <a:lnTo>
                    <a:pt x="3810" y="24765"/>
                  </a:lnTo>
                  <a:lnTo>
                    <a:pt x="1905" y="20955"/>
                  </a:lnTo>
                  <a:lnTo>
                    <a:pt x="0" y="18097"/>
                  </a:lnTo>
                  <a:lnTo>
                    <a:pt x="0" y="14288"/>
                  </a:lnTo>
                  <a:lnTo>
                    <a:pt x="0" y="10477"/>
                  </a:lnTo>
                  <a:lnTo>
                    <a:pt x="1905" y="7620"/>
                  </a:lnTo>
                  <a:lnTo>
                    <a:pt x="3810" y="3810"/>
                  </a:lnTo>
                  <a:lnTo>
                    <a:pt x="6667" y="1905"/>
                  </a:lnTo>
                  <a:lnTo>
                    <a:pt x="10478" y="952"/>
                  </a:lnTo>
                  <a:lnTo>
                    <a:pt x="14287" y="0"/>
                  </a:lnTo>
                  <a:lnTo>
                    <a:pt x="18097" y="952"/>
                  </a:lnTo>
                  <a:lnTo>
                    <a:pt x="20955" y="1905"/>
                  </a:lnTo>
                  <a:lnTo>
                    <a:pt x="23812" y="3810"/>
                  </a:lnTo>
                  <a:lnTo>
                    <a:pt x="26670" y="7620"/>
                  </a:lnTo>
                  <a:lnTo>
                    <a:pt x="27622" y="10477"/>
                  </a:lnTo>
                  <a:lnTo>
                    <a:pt x="28575" y="14288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6" name="Freeform 6"/>
            <p:cNvSpPr/>
            <p:nvPr/>
          </p:nvSpPr>
          <p:spPr>
            <a:xfrm>
              <a:off x="605790" y="547688"/>
              <a:ext cx="28575" cy="28575"/>
            </a:xfrm>
            <a:custGeom>
              <a:avLst/>
              <a:gdLst/>
              <a:ahLst/>
              <a:cxnLst/>
              <a:rect l="l" t="t" r="r" b="b"/>
              <a:pathLst>
                <a:path w="28575" h="28575">
                  <a:moveTo>
                    <a:pt x="28575" y="14288"/>
                  </a:moveTo>
                  <a:lnTo>
                    <a:pt x="27622" y="18097"/>
                  </a:lnTo>
                  <a:lnTo>
                    <a:pt x="26670" y="20955"/>
                  </a:lnTo>
                  <a:lnTo>
                    <a:pt x="23812" y="23812"/>
                  </a:lnTo>
                  <a:lnTo>
                    <a:pt x="20955" y="26670"/>
                  </a:lnTo>
                  <a:lnTo>
                    <a:pt x="18097" y="27622"/>
                  </a:lnTo>
                  <a:lnTo>
                    <a:pt x="14287" y="28575"/>
                  </a:lnTo>
                  <a:lnTo>
                    <a:pt x="10478" y="27622"/>
                  </a:lnTo>
                  <a:lnTo>
                    <a:pt x="6667" y="26670"/>
                  </a:lnTo>
                  <a:lnTo>
                    <a:pt x="3810" y="23812"/>
                  </a:lnTo>
                  <a:lnTo>
                    <a:pt x="1905" y="20955"/>
                  </a:lnTo>
                  <a:lnTo>
                    <a:pt x="0" y="18097"/>
                  </a:lnTo>
                  <a:lnTo>
                    <a:pt x="0" y="14288"/>
                  </a:lnTo>
                  <a:lnTo>
                    <a:pt x="0" y="10477"/>
                  </a:lnTo>
                  <a:lnTo>
                    <a:pt x="1905" y="6667"/>
                  </a:lnTo>
                  <a:lnTo>
                    <a:pt x="3810" y="3810"/>
                  </a:lnTo>
                  <a:lnTo>
                    <a:pt x="6667" y="1905"/>
                  </a:lnTo>
                  <a:lnTo>
                    <a:pt x="10478" y="0"/>
                  </a:lnTo>
                  <a:lnTo>
                    <a:pt x="14287" y="0"/>
                  </a:lnTo>
                  <a:lnTo>
                    <a:pt x="18097" y="0"/>
                  </a:lnTo>
                  <a:lnTo>
                    <a:pt x="20955" y="1905"/>
                  </a:lnTo>
                  <a:lnTo>
                    <a:pt x="23812" y="3810"/>
                  </a:lnTo>
                  <a:lnTo>
                    <a:pt x="26670" y="6667"/>
                  </a:lnTo>
                  <a:lnTo>
                    <a:pt x="27622" y="10477"/>
                  </a:lnTo>
                  <a:lnTo>
                    <a:pt x="28575" y="14288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7" name="Freeform 7"/>
            <p:cNvSpPr/>
            <p:nvPr/>
          </p:nvSpPr>
          <p:spPr>
            <a:xfrm>
              <a:off x="605790" y="618172"/>
              <a:ext cx="28575" cy="28575"/>
            </a:xfrm>
            <a:custGeom>
              <a:avLst/>
              <a:gdLst/>
              <a:ahLst/>
              <a:cxnLst/>
              <a:rect l="l" t="t" r="r" b="b"/>
              <a:pathLst>
                <a:path w="28575" h="28575">
                  <a:moveTo>
                    <a:pt x="28575" y="14288"/>
                  </a:moveTo>
                  <a:lnTo>
                    <a:pt x="27622" y="18097"/>
                  </a:lnTo>
                  <a:lnTo>
                    <a:pt x="26670" y="21907"/>
                  </a:lnTo>
                  <a:lnTo>
                    <a:pt x="23812" y="24765"/>
                  </a:lnTo>
                  <a:lnTo>
                    <a:pt x="20955" y="26670"/>
                  </a:lnTo>
                  <a:lnTo>
                    <a:pt x="18097" y="28575"/>
                  </a:lnTo>
                  <a:lnTo>
                    <a:pt x="14287" y="28575"/>
                  </a:lnTo>
                  <a:lnTo>
                    <a:pt x="10478" y="28575"/>
                  </a:lnTo>
                  <a:lnTo>
                    <a:pt x="6667" y="26670"/>
                  </a:lnTo>
                  <a:lnTo>
                    <a:pt x="3810" y="24765"/>
                  </a:lnTo>
                  <a:lnTo>
                    <a:pt x="1905" y="21907"/>
                  </a:lnTo>
                  <a:lnTo>
                    <a:pt x="0" y="18097"/>
                  </a:lnTo>
                  <a:lnTo>
                    <a:pt x="0" y="14288"/>
                  </a:lnTo>
                  <a:lnTo>
                    <a:pt x="0" y="10477"/>
                  </a:lnTo>
                  <a:lnTo>
                    <a:pt x="1905" y="7620"/>
                  </a:lnTo>
                  <a:lnTo>
                    <a:pt x="3810" y="4762"/>
                  </a:lnTo>
                  <a:lnTo>
                    <a:pt x="6667" y="1905"/>
                  </a:lnTo>
                  <a:lnTo>
                    <a:pt x="10478" y="952"/>
                  </a:lnTo>
                  <a:lnTo>
                    <a:pt x="14287" y="0"/>
                  </a:lnTo>
                  <a:lnTo>
                    <a:pt x="18097" y="952"/>
                  </a:lnTo>
                  <a:lnTo>
                    <a:pt x="20955" y="1905"/>
                  </a:lnTo>
                  <a:lnTo>
                    <a:pt x="23812" y="4762"/>
                  </a:lnTo>
                  <a:lnTo>
                    <a:pt x="26670" y="7620"/>
                  </a:lnTo>
                  <a:lnTo>
                    <a:pt x="27622" y="10477"/>
                  </a:lnTo>
                  <a:lnTo>
                    <a:pt x="28575" y="14288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1083069" y="369522"/>
            <a:ext cx="2400999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为什么是现在</a:t>
            </a:r>
          </a:p>
        </p:txBody>
      </p:sp>
      <p:sp>
        <p:nvSpPr>
          <p:cNvPr id="10" name="Rectangle 10"/>
          <p:cNvSpPr/>
          <p:nvPr/>
        </p:nvSpPr>
        <p:spPr>
          <a:xfrm>
            <a:off x="109728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822960" y="161829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089660" y="1556385"/>
            <a:ext cx="182806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企业知识孤岛严重…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91184" y="1809750"/>
            <a:ext cx="213649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80% 内部文档无法被检索调用</a:t>
            </a:r>
          </a:p>
        </p:txBody>
      </p:sp>
      <p:sp>
        <p:nvSpPr>
          <p:cNvPr id="14" name="Rectangle 14"/>
          <p:cNvSpPr/>
          <p:nvPr/>
        </p:nvSpPr>
        <p:spPr>
          <a:xfrm>
            <a:off x="822960" y="2185035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089660" y="2123122"/>
            <a:ext cx="16160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人工流程成本高…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91184" y="2376488"/>
            <a:ext cx="20638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重复性办公任务占工时 40%+</a:t>
            </a:r>
          </a:p>
        </p:txBody>
      </p:sp>
      <p:sp>
        <p:nvSpPr>
          <p:cNvPr id="17" name="Rectangle 17"/>
          <p:cNvSpPr/>
          <p:nvPr/>
        </p:nvSpPr>
        <p:spPr>
          <a:xfrm>
            <a:off x="822960" y="2751772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089660" y="2689860"/>
            <a:ext cx="16160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大模型能力成熟…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91184" y="2944177"/>
            <a:ext cx="254447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多模态 + 长上下文让 Agent 可落地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cover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/>
          <p:cNvGrpSpPr/>
          <p:nvPr/>
        </p:nvGrpSpPr>
        <p:grpSpPr>
          <a:xfrm>
            <a:off x="620078" y="476250"/>
            <a:ext cx="215265" cy="180023"/>
            <a:chOff x="620078" y="476250"/>
            <a:chExt cx="215265" cy="180023"/>
          </a:xfrm>
        </p:grpSpPr>
        <p:sp>
          <p:nvSpPr>
            <p:cNvPr id="2" name="Freeform 2"/>
            <p:cNvSpPr/>
            <p:nvPr/>
          </p:nvSpPr>
          <p:spPr>
            <a:xfrm>
              <a:off x="620078" y="476250"/>
              <a:ext cx="9525" cy="170498"/>
            </a:xfrm>
            <a:custGeom>
              <a:avLst/>
              <a:gdLst/>
              <a:ahLst/>
              <a:cxnLst/>
              <a:rect l="l" t="t" r="r" b="b"/>
              <a:pathLst>
                <a:path w="9525" h="170498">
                  <a:moveTo>
                    <a:pt x="0" y="170498"/>
                  </a:moveTo>
                  <a:lnTo>
                    <a:pt x="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620078" y="646748"/>
              <a:ext cx="213360" cy="9525"/>
            </a:xfrm>
            <a:custGeom>
              <a:avLst/>
              <a:gdLst/>
              <a:ahLst/>
              <a:cxnLst/>
              <a:rect l="l" t="t" r="r" b="b"/>
              <a:pathLst>
                <a:path w="213360" h="9525">
                  <a:moveTo>
                    <a:pt x="0" y="0"/>
                  </a:moveTo>
                  <a:lnTo>
                    <a:pt x="21336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4" name="Freeform 4"/>
            <p:cNvSpPr/>
            <p:nvPr/>
          </p:nvSpPr>
          <p:spPr>
            <a:xfrm>
              <a:off x="655320" y="561975"/>
              <a:ext cx="9525" cy="84773"/>
            </a:xfrm>
            <a:custGeom>
              <a:avLst/>
              <a:gdLst/>
              <a:ahLst/>
              <a:cxnLst/>
              <a:rect l="l" t="t" r="r" b="b"/>
              <a:pathLst>
                <a:path w="9525" h="84773">
                  <a:moveTo>
                    <a:pt x="0" y="84773"/>
                  </a:moveTo>
                  <a:lnTo>
                    <a:pt x="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5" name="Freeform 5"/>
            <p:cNvSpPr/>
            <p:nvPr/>
          </p:nvSpPr>
          <p:spPr>
            <a:xfrm>
              <a:off x="712470" y="511492"/>
              <a:ext cx="9525" cy="135255"/>
            </a:xfrm>
            <a:custGeom>
              <a:avLst/>
              <a:gdLst/>
              <a:ahLst/>
              <a:cxnLst/>
              <a:rect l="l" t="t" r="r" b="b"/>
              <a:pathLst>
                <a:path w="9525" h="135255">
                  <a:moveTo>
                    <a:pt x="0" y="135255"/>
                  </a:moveTo>
                  <a:lnTo>
                    <a:pt x="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6" name="Freeform 6"/>
            <p:cNvSpPr/>
            <p:nvPr/>
          </p:nvSpPr>
          <p:spPr>
            <a:xfrm>
              <a:off x="768668" y="582930"/>
              <a:ext cx="9525" cy="63818"/>
            </a:xfrm>
            <a:custGeom>
              <a:avLst/>
              <a:gdLst/>
              <a:ahLst/>
              <a:cxnLst/>
              <a:rect l="l" t="t" r="r" b="b"/>
              <a:pathLst>
                <a:path w="9525" h="63818">
                  <a:moveTo>
                    <a:pt x="0" y="63818"/>
                  </a:moveTo>
                  <a:lnTo>
                    <a:pt x="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7" name="Freeform 7"/>
            <p:cNvSpPr/>
            <p:nvPr/>
          </p:nvSpPr>
          <p:spPr>
            <a:xfrm>
              <a:off x="825818" y="490538"/>
              <a:ext cx="9525" cy="156210"/>
            </a:xfrm>
            <a:custGeom>
              <a:avLst/>
              <a:gdLst/>
              <a:ahLst/>
              <a:cxnLst/>
              <a:rect l="l" t="t" r="r" b="b"/>
              <a:pathLst>
                <a:path w="9525" h="156210">
                  <a:moveTo>
                    <a:pt x="0" y="156210"/>
                  </a:moveTo>
                  <a:lnTo>
                    <a:pt x="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1083069" y="369522"/>
            <a:ext cx="3350030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市场规模 (亿美元)</a:t>
            </a:r>
          </a:p>
        </p:txBody>
      </p:sp>
      <p:sp>
        <p:nvSpPr>
          <p:cNvPr id="10" name="Rectangle 10"/>
          <p:cNvSpPr/>
          <p:nvPr/>
        </p:nvSpPr>
        <p:spPr>
          <a:xfrm>
            <a:off x="109728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1" name="Line 11"/>
          <p:cNvSpPr/>
          <p:nvPr/>
        </p:nvSpPr>
        <p:spPr>
          <a:xfrm>
            <a:off x="822960" y="576072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626192" y="5812203"/>
            <a:ext cx="9283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0</a:t>
            </a:r>
          </a:p>
        </p:txBody>
      </p:sp>
      <p:sp>
        <p:nvSpPr>
          <p:cNvPr id="13" name="Line 13"/>
          <p:cNvSpPr/>
          <p:nvPr/>
        </p:nvSpPr>
        <p:spPr>
          <a:xfrm>
            <a:off x="822960" y="475488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462931" y="4806363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320</a:t>
            </a:r>
          </a:p>
        </p:txBody>
      </p:sp>
      <p:sp>
        <p:nvSpPr>
          <p:cNvPr id="15" name="Line 15"/>
          <p:cNvSpPr/>
          <p:nvPr/>
        </p:nvSpPr>
        <p:spPr>
          <a:xfrm>
            <a:off x="822960" y="374904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462931" y="3800523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640</a:t>
            </a:r>
          </a:p>
        </p:txBody>
      </p:sp>
      <p:sp>
        <p:nvSpPr>
          <p:cNvPr id="17" name="Line 17"/>
          <p:cNvSpPr/>
          <p:nvPr/>
        </p:nvSpPr>
        <p:spPr>
          <a:xfrm>
            <a:off x="822960" y="274320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462931" y="2794683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960</a:t>
            </a:r>
          </a:p>
        </p:txBody>
      </p:sp>
      <p:sp>
        <p:nvSpPr>
          <p:cNvPr id="19" name="Line 19"/>
          <p:cNvSpPr/>
          <p:nvPr/>
        </p:nvSpPr>
        <p:spPr>
          <a:xfrm>
            <a:off x="822960" y="1737360"/>
            <a:ext cx="10515600" cy="9525"/>
          </a:xfrm>
          <a:custGeom>
            <a:avLst/>
            <a:gdLst/>
            <a:ahLst/>
            <a:cxnLst/>
            <a:rect l="l" t="t" r="r" b="b"/>
            <a:pathLst>
              <a:path w="10515600" h="9525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381301" y="1788843"/>
            <a:ext cx="33772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1280</a:t>
            </a:r>
          </a:p>
        </p:txBody>
      </p:sp>
      <p:sp>
        <p:nvSpPr>
          <p:cNvPr id="21" name="Rectangle 21"/>
          <p:cNvSpPr/>
          <p:nvPr/>
        </p:nvSpPr>
        <p:spPr>
          <a:xfrm>
            <a:off x="1553528" y="5407342"/>
            <a:ext cx="721995" cy="353378"/>
          </a:xfrm>
          <a:prstGeom prst="roundRect">
            <a:avLst>
              <a:gd name="adj" fmla="val 5391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786479" y="5357860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3" name="Rectangle 23"/>
          <p:cNvSpPr/>
          <p:nvPr/>
        </p:nvSpPr>
        <p:spPr>
          <a:xfrm>
            <a:off x="2433638" y="5172075"/>
            <a:ext cx="721995" cy="588645"/>
          </a:xfrm>
          <a:prstGeom prst="roundRect">
            <a:avLst>
              <a:gd name="adj" fmla="val 3236"/>
            </a:avLst>
          </a:prstGeom>
          <a:solidFill>
            <a:schemeClr val="accent5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2666589" y="5121640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200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85719" y="5837920"/>
            <a:ext cx="33772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2024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068128" y="4935855"/>
            <a:ext cx="721995" cy="824865"/>
          </a:xfrm>
          <a:prstGeom prst="roundRect">
            <a:avLst>
              <a:gd name="adj" fmla="val 2639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4301079" y="4886373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280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948238" y="4523422"/>
            <a:ext cx="721995" cy="1236345"/>
          </a:xfrm>
          <a:prstGeom prst="roundRect">
            <a:avLst>
              <a:gd name="adj" fmla="val 2639"/>
            </a:avLst>
          </a:prstGeom>
          <a:solidFill>
            <a:schemeClr val="accent5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5181189" y="4473940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420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700319" y="5837920"/>
            <a:ext cx="33772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2025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582728" y="4170045"/>
            <a:ext cx="721995" cy="1590675"/>
          </a:xfrm>
          <a:prstGeom prst="roundRect">
            <a:avLst>
              <a:gd name="adj" fmla="val 2639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6815679" y="4120563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540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462838" y="3522345"/>
            <a:ext cx="721995" cy="2238375"/>
          </a:xfrm>
          <a:prstGeom prst="roundRect">
            <a:avLst>
              <a:gd name="adj" fmla="val 2639"/>
            </a:avLst>
          </a:prstGeom>
          <a:solidFill>
            <a:schemeClr val="accent5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7695789" y="3472863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760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162552" y="5837920"/>
            <a:ext cx="442455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2026E</a:t>
            </a:r>
          </a:p>
        </p:txBody>
      </p:sp>
      <p:sp>
        <p:nvSpPr>
          <p:cNvPr id="36" name="Rectangle 36"/>
          <p:cNvSpPr/>
          <p:nvPr/>
        </p:nvSpPr>
        <p:spPr>
          <a:xfrm>
            <a:off x="9097328" y="2933700"/>
            <a:ext cx="721995" cy="2827020"/>
          </a:xfrm>
          <a:prstGeom prst="roundRect">
            <a:avLst>
              <a:gd name="adj" fmla="val 2639"/>
            </a:avLst>
          </a:prstGeom>
          <a:solidFill>
            <a:schemeClr val="accent2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9330279" y="2884218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960</a:t>
            </a:r>
          </a:p>
        </p:txBody>
      </p:sp>
      <p:sp>
        <p:nvSpPr>
          <p:cNvPr id="38" name="Rectangle 38"/>
          <p:cNvSpPr/>
          <p:nvPr/>
        </p:nvSpPr>
        <p:spPr>
          <a:xfrm>
            <a:off x="9977438" y="1991678"/>
            <a:ext cx="721995" cy="3769042"/>
          </a:xfrm>
          <a:prstGeom prst="roundRect">
            <a:avLst>
              <a:gd name="adj" fmla="val 2639"/>
            </a:avLst>
          </a:prstGeom>
          <a:solidFill>
            <a:schemeClr val="accent2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10169574" y="1941243"/>
            <a:ext cx="33772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1280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677152" y="5837920"/>
            <a:ext cx="442455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2027E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2468880"/>
            <a:ext cx="12192000" cy="1828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2468880"/>
            <a:ext cx="38100" cy="18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Line 4"/>
          <p:cNvSpPr/>
          <p:nvPr/>
        </p:nvSpPr>
        <p:spPr>
          <a:xfrm>
            <a:off x="3108960" y="2651760"/>
            <a:ext cx="9525" cy="1463040"/>
          </a:xfrm>
          <a:custGeom>
            <a:avLst/>
            <a:gdLst/>
            <a:ahLst/>
            <a:cxnLst/>
            <a:rect l="l" t="t" r="r" b="b"/>
            <a:pathLst>
              <a:path w="9525" h="1463040">
                <a:moveTo>
                  <a:pt x="0" y="0"/>
                </a:moveTo>
                <a:lnTo>
                  <a:pt x="0" y="146304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5" name="Ellipse 5"/>
          <p:cNvSpPr/>
          <p:nvPr/>
        </p:nvSpPr>
        <p:spPr>
          <a:xfrm>
            <a:off x="10297478" y="2799398"/>
            <a:ext cx="1167765" cy="1167765"/>
          </a:xfrm>
          <a:prstGeom prst="ellipse">
            <a:avLst/>
          </a:prstGeom>
          <a:noFill/>
          <a:ln w="19050">
            <a:solidFill>
              <a:schemeClr val="accent1">
                <a:alpha val="50000"/>
              </a:schemeClr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1063417" y="2892742"/>
            <a:ext cx="1530767" cy="1847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6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366021" y="2702195"/>
            <a:ext cx="1955479" cy="6644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产品矩阵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376155" y="3888153"/>
            <a:ext cx="1335881" cy="27430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四层一体化平台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34365" y="469582"/>
            <a:ext cx="184785" cy="184785"/>
            <a:chOff x="634365" y="469582"/>
            <a:chExt cx="184785" cy="184785"/>
          </a:xfrm>
        </p:grpSpPr>
        <p:sp>
          <p:nvSpPr>
            <p:cNvPr id="2" name="Freeform 2"/>
            <p:cNvSpPr/>
            <p:nvPr/>
          </p:nvSpPr>
          <p:spPr>
            <a:xfrm>
              <a:off x="634365" y="469582"/>
              <a:ext cx="78105" cy="184785"/>
            </a:xfrm>
            <a:custGeom>
              <a:avLst/>
              <a:gdLst/>
              <a:ahLst/>
              <a:cxnLst/>
              <a:rect l="l" t="t" r="r" b="b"/>
              <a:pathLst>
                <a:path w="78105" h="184785">
                  <a:moveTo>
                    <a:pt x="0" y="0"/>
                  </a:moveTo>
                  <a:lnTo>
                    <a:pt x="78105" y="0"/>
                  </a:lnTo>
                  <a:lnTo>
                    <a:pt x="78105" y="184785"/>
                  </a:lnTo>
                  <a:lnTo>
                    <a:pt x="0" y="184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741045" y="469582"/>
              <a:ext cx="78105" cy="184785"/>
            </a:xfrm>
            <a:custGeom>
              <a:avLst/>
              <a:gdLst/>
              <a:ahLst/>
              <a:cxnLst/>
              <a:rect l="l" t="t" r="r" b="b"/>
              <a:pathLst>
                <a:path w="78105" h="184785">
                  <a:moveTo>
                    <a:pt x="0" y="0"/>
                  </a:moveTo>
                  <a:lnTo>
                    <a:pt x="78105" y="0"/>
                  </a:lnTo>
                  <a:lnTo>
                    <a:pt x="78105" y="184785"/>
                  </a:lnTo>
                  <a:lnTo>
                    <a:pt x="0" y="184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1083069" y="369522"/>
            <a:ext cx="1610140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产品矩阵</a:t>
            </a:r>
          </a:p>
        </p:txBody>
      </p:sp>
      <p:sp>
        <p:nvSpPr>
          <p:cNvPr id="6" name="Rectangle 6"/>
          <p:cNvSpPr/>
          <p:nvPr/>
        </p:nvSpPr>
        <p:spPr>
          <a:xfrm>
            <a:off x="109728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48640" y="1554480"/>
            <a:ext cx="5394960" cy="43891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6217920" y="1554480"/>
            <a:ext cx="5394960" cy="43891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814845" y="1739217"/>
            <a:ext cx="693655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能力层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484125" y="1739217"/>
            <a:ext cx="693655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交付层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22960" y="234981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089660" y="2287905"/>
            <a:ext cx="134820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知识中枢 RAG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822960" y="289845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1089660" y="2836545"/>
            <a:ext cx="107537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多模型调度</a:t>
            </a:r>
          </a:p>
        </p:txBody>
      </p:sp>
      <p:sp>
        <p:nvSpPr>
          <p:cNvPr id="15" name="Rectangle 15"/>
          <p:cNvSpPr/>
          <p:nvPr/>
        </p:nvSpPr>
        <p:spPr>
          <a:xfrm>
            <a:off x="822960" y="344709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089660" y="3385185"/>
            <a:ext cx="139301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MCP 插件市场</a:t>
            </a:r>
          </a:p>
        </p:txBody>
      </p:sp>
      <p:sp>
        <p:nvSpPr>
          <p:cNvPr id="17" name="Rectangle 17"/>
          <p:cNvSpPr/>
          <p:nvPr/>
        </p:nvSpPr>
        <p:spPr>
          <a:xfrm>
            <a:off x="822960" y="399573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089660" y="393382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技能编排</a:t>
            </a:r>
          </a:p>
        </p:txBody>
      </p:sp>
      <p:sp>
        <p:nvSpPr>
          <p:cNvPr id="19" name="Rectangle 19"/>
          <p:cNvSpPr/>
          <p:nvPr/>
        </p:nvSpPr>
        <p:spPr>
          <a:xfrm>
            <a:off x="6492240" y="234981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6758940" y="2287905"/>
            <a:ext cx="94495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AI 对话框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492240" y="289845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6758940" y="283654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学习中心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492240" y="344709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6758940" y="338518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创作工坊</a:t>
            </a:r>
          </a:p>
        </p:txBody>
      </p:sp>
      <p:sp>
        <p:nvSpPr>
          <p:cNvPr id="25" name="Rectangle 25"/>
          <p:cNvSpPr/>
          <p:nvPr/>
        </p:nvSpPr>
        <p:spPr>
          <a:xfrm>
            <a:off x="6492240" y="399573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6758940" y="3933825"/>
            <a:ext cx="124739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企业版 RBAC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random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5790" y="441008"/>
            <a:ext cx="241935" cy="241935"/>
            <a:chOff x="605790" y="441008"/>
            <a:chExt cx="241935" cy="241935"/>
          </a:xfrm>
        </p:grpSpPr>
        <p:sp>
          <p:nvSpPr>
            <p:cNvPr id="2" name="Freeform 2"/>
            <p:cNvSpPr/>
            <p:nvPr/>
          </p:nvSpPr>
          <p:spPr>
            <a:xfrm>
              <a:off x="605790" y="441008"/>
              <a:ext cx="241935" cy="241935"/>
            </a:xfrm>
            <a:custGeom>
              <a:avLst/>
              <a:gdLst/>
              <a:ahLst/>
              <a:cxnLst/>
              <a:rect l="l" t="t" r="r" b="b"/>
              <a:pathLst>
                <a:path w="241935" h="241935">
                  <a:moveTo>
                    <a:pt x="241935" y="120968"/>
                  </a:moveTo>
                  <a:lnTo>
                    <a:pt x="237172" y="152400"/>
                  </a:lnTo>
                  <a:lnTo>
                    <a:pt x="225742" y="180975"/>
                  </a:lnTo>
                  <a:lnTo>
                    <a:pt x="205740" y="205740"/>
                  </a:lnTo>
                  <a:lnTo>
                    <a:pt x="180975" y="225743"/>
                  </a:lnTo>
                  <a:lnTo>
                    <a:pt x="152400" y="237172"/>
                  </a:lnTo>
                  <a:lnTo>
                    <a:pt x="120967" y="241935"/>
                  </a:lnTo>
                  <a:lnTo>
                    <a:pt x="89535" y="237172"/>
                  </a:lnTo>
                  <a:lnTo>
                    <a:pt x="60008" y="225743"/>
                  </a:lnTo>
                  <a:lnTo>
                    <a:pt x="35242" y="205740"/>
                  </a:lnTo>
                  <a:lnTo>
                    <a:pt x="16192" y="180975"/>
                  </a:lnTo>
                  <a:lnTo>
                    <a:pt x="3810" y="152400"/>
                  </a:lnTo>
                  <a:lnTo>
                    <a:pt x="0" y="120968"/>
                  </a:lnTo>
                  <a:lnTo>
                    <a:pt x="3810" y="89535"/>
                  </a:lnTo>
                  <a:lnTo>
                    <a:pt x="16192" y="60007"/>
                  </a:lnTo>
                  <a:lnTo>
                    <a:pt x="35242" y="35243"/>
                  </a:lnTo>
                  <a:lnTo>
                    <a:pt x="60008" y="16193"/>
                  </a:lnTo>
                  <a:lnTo>
                    <a:pt x="89535" y="3810"/>
                  </a:lnTo>
                  <a:lnTo>
                    <a:pt x="120967" y="0"/>
                  </a:lnTo>
                  <a:lnTo>
                    <a:pt x="152400" y="3810"/>
                  </a:lnTo>
                  <a:lnTo>
                    <a:pt x="180975" y="16193"/>
                  </a:lnTo>
                  <a:lnTo>
                    <a:pt x="205740" y="35243"/>
                  </a:lnTo>
                  <a:lnTo>
                    <a:pt x="225742" y="60007"/>
                  </a:lnTo>
                  <a:lnTo>
                    <a:pt x="237172" y="89535"/>
                  </a:lnTo>
                  <a:lnTo>
                    <a:pt x="241935" y="120968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726758" y="476250"/>
              <a:ext cx="9525" cy="85725"/>
            </a:xfrm>
            <a:custGeom>
              <a:avLst/>
              <a:gdLst/>
              <a:ahLst/>
              <a:cxnLst/>
              <a:rect l="l" t="t" r="r" b="b"/>
              <a:pathLst>
                <a:path w="9525" h="85725">
                  <a:moveTo>
                    <a:pt x="0" y="85725"/>
                  </a:moveTo>
                  <a:lnTo>
                    <a:pt x="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4" name="Freeform 4"/>
            <p:cNvSpPr/>
            <p:nvPr/>
          </p:nvSpPr>
          <p:spPr>
            <a:xfrm>
              <a:off x="726758" y="561975"/>
              <a:ext cx="70485" cy="9525"/>
            </a:xfrm>
            <a:custGeom>
              <a:avLst/>
              <a:gdLst/>
              <a:ahLst/>
              <a:cxnLst/>
              <a:rect l="l" t="t" r="r" b="b"/>
              <a:pathLst>
                <a:path w="70485" h="9525">
                  <a:moveTo>
                    <a:pt x="0" y="0"/>
                  </a:moveTo>
                  <a:lnTo>
                    <a:pt x="70485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083069" y="369522"/>
            <a:ext cx="1610140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增长路线</a:t>
            </a:r>
          </a:p>
        </p:txBody>
      </p:sp>
      <p:sp>
        <p:nvSpPr>
          <p:cNvPr id="7" name="Rectangle 7"/>
          <p:cNvSpPr/>
          <p:nvPr/>
        </p:nvSpPr>
        <p:spPr>
          <a:xfrm>
            <a:off x="109728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Line 8"/>
          <p:cNvSpPr/>
          <p:nvPr/>
        </p:nvSpPr>
        <p:spPr>
          <a:xfrm>
            <a:off x="914400" y="3657600"/>
            <a:ext cx="10332720" cy="9525"/>
          </a:xfrm>
          <a:custGeom>
            <a:avLst/>
            <a:gdLst/>
            <a:ahLst/>
            <a:cxnLst/>
            <a:rect l="l" t="t" r="r" b="b"/>
            <a:pathLst>
              <a:path w="10332720" h="9525">
                <a:moveTo>
                  <a:pt x="0" y="0"/>
                </a:moveTo>
                <a:lnTo>
                  <a:pt x="10332720" y="0"/>
                </a:lnTo>
              </a:path>
            </a:pathLst>
          </a:custGeom>
          <a:noFill/>
          <a:ln w="19050">
            <a:solidFill>
              <a:srgbClr val="30363D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2155508" y="3607118"/>
            <a:ext cx="101918" cy="1019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884499" y="2699337"/>
            <a:ext cx="642981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P1 MVP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92713" y="3795760"/>
            <a:ext cx="1226553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知识库+对话+RAG</a:t>
            </a:r>
          </a:p>
        </p:txBody>
      </p:sp>
      <p:sp>
        <p:nvSpPr>
          <p:cNvPr id="12" name="Rectangle 12"/>
          <p:cNvSpPr/>
          <p:nvPr/>
        </p:nvSpPr>
        <p:spPr>
          <a:xfrm>
            <a:off x="4738688" y="3607118"/>
            <a:ext cx="101918" cy="1019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4453146" y="2699337"/>
            <a:ext cx="672049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P2 生态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81747" y="3795760"/>
            <a:ext cx="1014847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学习路径+MCP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321868" y="3607118"/>
            <a:ext cx="101918" cy="1019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7036326" y="2699337"/>
            <a:ext cx="672049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P3 企业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80679" y="3795760"/>
            <a:ext cx="983343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知识图谱+沙盒</a:t>
            </a:r>
          </a:p>
        </p:txBody>
      </p:sp>
      <p:sp>
        <p:nvSpPr>
          <p:cNvPr id="18" name="Rectangle 18"/>
          <p:cNvSpPr/>
          <p:nvPr/>
        </p:nvSpPr>
        <p:spPr>
          <a:xfrm>
            <a:off x="9905048" y="3607118"/>
            <a:ext cx="101918" cy="1019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9619506" y="2699337"/>
            <a:ext cx="672049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P4 桌面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570930" y="3795760"/>
            <a:ext cx="769200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Tauri+出海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trips dir="r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620078" y="483870"/>
            <a:ext cx="213360" cy="156210"/>
            <a:chOff x="620078" y="483870"/>
            <a:chExt cx="213360" cy="156210"/>
          </a:xfrm>
        </p:grpSpPr>
        <p:sp>
          <p:nvSpPr>
            <p:cNvPr id="2" name="Freeform 2"/>
            <p:cNvSpPr/>
            <p:nvPr/>
          </p:nvSpPr>
          <p:spPr>
            <a:xfrm>
              <a:off x="620078" y="483870"/>
              <a:ext cx="213360" cy="156210"/>
            </a:xfrm>
            <a:custGeom>
              <a:avLst/>
              <a:gdLst/>
              <a:ahLst/>
              <a:cxnLst/>
              <a:rect l="l" t="t" r="r" b="b"/>
              <a:pathLst>
                <a:path w="213360" h="156210">
                  <a:moveTo>
                    <a:pt x="0" y="0"/>
                  </a:moveTo>
                  <a:lnTo>
                    <a:pt x="213360" y="0"/>
                  </a:lnTo>
                  <a:lnTo>
                    <a:pt x="213360" y="156210"/>
                  </a:lnTo>
                  <a:lnTo>
                    <a:pt x="0" y="156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620078" y="554355"/>
              <a:ext cx="213360" cy="9525"/>
            </a:xfrm>
            <a:custGeom>
              <a:avLst/>
              <a:gdLst/>
              <a:ahLst/>
              <a:cxnLst/>
              <a:rect l="l" t="t" r="r" b="b"/>
              <a:pathLst>
                <a:path w="213360" h="9525">
                  <a:moveTo>
                    <a:pt x="0" y="0"/>
                  </a:moveTo>
                  <a:lnTo>
                    <a:pt x="213360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4" name="Freeform 4"/>
            <p:cNvSpPr/>
            <p:nvPr/>
          </p:nvSpPr>
          <p:spPr>
            <a:xfrm>
              <a:off x="704850" y="483870"/>
              <a:ext cx="9525" cy="156210"/>
            </a:xfrm>
            <a:custGeom>
              <a:avLst/>
              <a:gdLst/>
              <a:ahLst/>
              <a:cxnLst/>
              <a:rect l="l" t="t" r="r" b="b"/>
              <a:pathLst>
                <a:path w="9525" h="156210">
                  <a:moveTo>
                    <a:pt x="0" y="0"/>
                  </a:moveTo>
                  <a:lnTo>
                    <a:pt x="0" y="15621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5" name="Freeform 5"/>
            <p:cNvSpPr/>
            <p:nvPr/>
          </p:nvSpPr>
          <p:spPr>
            <a:xfrm>
              <a:off x="768668" y="483870"/>
              <a:ext cx="9525" cy="156210"/>
            </a:xfrm>
            <a:custGeom>
              <a:avLst/>
              <a:gdLst/>
              <a:ahLst/>
              <a:cxnLst/>
              <a:rect l="l" t="t" r="r" b="b"/>
              <a:pathLst>
                <a:path w="9525" h="156210">
                  <a:moveTo>
                    <a:pt x="0" y="0"/>
                  </a:moveTo>
                  <a:lnTo>
                    <a:pt x="0" y="15621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</p:grpSp>
      <p:sp>
        <p:nvSpPr>
          <p:cNvPr id="7" name="TextBox 7"/>
          <p:cNvSpPr txBox="1"/>
          <p:nvPr/>
        </p:nvSpPr>
        <p:spPr>
          <a:xfrm>
            <a:off x="1083069" y="369522"/>
            <a:ext cx="2400999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商业模式对比</a:t>
            </a:r>
          </a:p>
        </p:txBody>
      </p:sp>
      <p:sp>
        <p:nvSpPr>
          <p:cNvPr id="8" name="Rectangle 8"/>
          <p:cNvSpPr/>
          <p:nvPr/>
        </p:nvSpPr>
        <p:spPr>
          <a:xfrm>
            <a:off x="109728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48640" y="1554480"/>
            <a:ext cx="27660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633489" y="1687782"/>
            <a:ext cx="379988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层级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14700" y="1554480"/>
            <a:ext cx="27660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3399549" y="1687782"/>
            <a:ext cx="379988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对象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080760" y="1554480"/>
            <a:ext cx="27660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6165609" y="1687782"/>
            <a:ext cx="439508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ARPU</a:t>
            </a:r>
          </a:p>
        </p:txBody>
      </p:sp>
      <p:sp>
        <p:nvSpPr>
          <p:cNvPr id="15" name="Rectangle 15"/>
          <p:cNvSpPr/>
          <p:nvPr/>
        </p:nvSpPr>
        <p:spPr>
          <a:xfrm>
            <a:off x="8846820" y="1554480"/>
            <a:ext cx="27660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8931669" y="1687782"/>
            <a:ext cx="379988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毛利</a:t>
            </a:r>
          </a:p>
        </p:txBody>
      </p:sp>
      <p:sp>
        <p:nvSpPr>
          <p:cNvPr id="17" name="Rectangle 17"/>
          <p:cNvSpPr/>
          <p:nvPr/>
        </p:nvSpPr>
        <p:spPr>
          <a:xfrm>
            <a:off x="548640" y="265176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33984" y="278511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免费</a:t>
            </a:r>
          </a:p>
        </p:txBody>
      </p:sp>
      <p:sp>
        <p:nvSpPr>
          <p:cNvPr id="19" name="Rectangle 19"/>
          <p:cNvSpPr/>
          <p:nvPr/>
        </p:nvSpPr>
        <p:spPr>
          <a:xfrm>
            <a:off x="3314700" y="265176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3400044" y="278511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个人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080760" y="265176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6166104" y="278511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0</a:t>
            </a:r>
          </a:p>
        </p:txBody>
      </p:sp>
      <p:sp>
        <p:nvSpPr>
          <p:cNvPr id="23" name="Rectangle 23"/>
          <p:cNvSpPr/>
          <p:nvPr/>
        </p:nvSpPr>
        <p:spPr>
          <a:xfrm>
            <a:off x="8846820" y="265176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932164" y="278511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-</a:t>
            </a:r>
          </a:p>
        </p:txBody>
      </p:sp>
      <p:sp>
        <p:nvSpPr>
          <p:cNvPr id="25" name="Rectangle 25"/>
          <p:cNvSpPr/>
          <p:nvPr/>
        </p:nvSpPr>
        <p:spPr>
          <a:xfrm>
            <a:off x="548640" y="3749040"/>
            <a:ext cx="276606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633984" y="388239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会员</a:t>
            </a:r>
          </a:p>
        </p:txBody>
      </p:sp>
      <p:sp>
        <p:nvSpPr>
          <p:cNvPr id="27" name="Rectangle 27"/>
          <p:cNvSpPr/>
          <p:nvPr/>
        </p:nvSpPr>
        <p:spPr>
          <a:xfrm>
            <a:off x="3314700" y="3749040"/>
            <a:ext cx="276606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3400044" y="3882390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专业用户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080760" y="3749040"/>
            <a:ext cx="276606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6166104" y="3882390"/>
            <a:ext cx="52913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¥99/月</a:t>
            </a:r>
          </a:p>
        </p:txBody>
      </p:sp>
      <p:sp>
        <p:nvSpPr>
          <p:cNvPr id="31" name="Rectangle 31"/>
          <p:cNvSpPr/>
          <p:nvPr/>
        </p:nvSpPr>
        <p:spPr>
          <a:xfrm>
            <a:off x="8846820" y="3749040"/>
            <a:ext cx="276606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8932164" y="3882390"/>
            <a:ext cx="31104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85%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48640" y="484632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633984" y="497967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企业</a:t>
            </a:r>
          </a:p>
        </p:txBody>
      </p:sp>
      <p:sp>
        <p:nvSpPr>
          <p:cNvPr id="35" name="Rectangle 35"/>
          <p:cNvSpPr/>
          <p:nvPr/>
        </p:nvSpPr>
        <p:spPr>
          <a:xfrm>
            <a:off x="3314700" y="484632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3400044" y="497967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团队</a:t>
            </a:r>
          </a:p>
        </p:txBody>
      </p:sp>
      <p:sp>
        <p:nvSpPr>
          <p:cNvPr id="37" name="Rectangle 37"/>
          <p:cNvSpPr/>
          <p:nvPr/>
        </p:nvSpPr>
        <p:spPr>
          <a:xfrm>
            <a:off x="6080760" y="484632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6166104" y="4979670"/>
            <a:ext cx="9572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¥1999/席/年</a:t>
            </a:r>
          </a:p>
        </p:txBody>
      </p:sp>
      <p:sp>
        <p:nvSpPr>
          <p:cNvPr id="39" name="Rectangle 39"/>
          <p:cNvSpPr/>
          <p:nvPr/>
        </p:nvSpPr>
        <p:spPr>
          <a:xfrm>
            <a:off x="8846820" y="484632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8932164" y="4979670"/>
            <a:ext cx="31104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90%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969645" y="1701165"/>
            <a:ext cx="316230" cy="194310"/>
            <a:chOff x="969645" y="1701165"/>
            <a:chExt cx="316230" cy="194310"/>
          </a:xfrm>
        </p:grpSpPr>
        <p:sp>
          <p:nvSpPr>
            <p:cNvPr id="2" name="Freeform 2"/>
            <p:cNvSpPr/>
            <p:nvPr/>
          </p:nvSpPr>
          <p:spPr>
            <a:xfrm>
              <a:off x="969645" y="1701165"/>
              <a:ext cx="121920" cy="194310"/>
            </a:xfrm>
            <a:custGeom>
              <a:avLst/>
              <a:gdLst/>
              <a:ahLst/>
              <a:cxnLst/>
              <a:rect l="l" t="t" r="r" b="b"/>
              <a:pathLst>
                <a:path w="121920" h="194310">
                  <a:moveTo>
                    <a:pt x="0" y="0"/>
                  </a:moveTo>
                  <a:lnTo>
                    <a:pt x="0" y="194310"/>
                  </a:lnTo>
                  <a:lnTo>
                    <a:pt x="121920" y="194310"/>
                  </a:lnTo>
                </a:path>
              </a:pathLst>
            </a:custGeom>
            <a:noFill/>
            <a:ln w="3619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1163955" y="1701165"/>
              <a:ext cx="121920" cy="194310"/>
            </a:xfrm>
            <a:custGeom>
              <a:avLst/>
              <a:gdLst/>
              <a:ahLst/>
              <a:cxnLst/>
              <a:rect l="l" t="t" r="r" b="b"/>
              <a:pathLst>
                <a:path w="121920" h="194310">
                  <a:moveTo>
                    <a:pt x="0" y="0"/>
                  </a:moveTo>
                  <a:lnTo>
                    <a:pt x="0" y="194310"/>
                  </a:lnTo>
                  <a:lnTo>
                    <a:pt x="121920" y="194310"/>
                  </a:lnTo>
                </a:path>
              </a:pathLst>
            </a:custGeom>
            <a:noFill/>
            <a:ln w="36195" cap="rnd">
              <a:solidFill>
                <a:schemeClr val="accent1"/>
              </a:solidFill>
              <a:round/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1078230" y="1569720"/>
            <a:ext cx="971017" cy="2305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“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58379" y="2106025"/>
            <a:ext cx="8707153" cy="50899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让每个企业都有自己的 AI 员工，从一份知识库开始。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63980" y="4756785"/>
            <a:ext cx="175052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— Reasonix AI 使命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109084" y="6447472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wipe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98170" y="433388"/>
            <a:ext cx="256222" cy="256223"/>
            <a:chOff x="598170" y="433388"/>
            <a:chExt cx="256222" cy="256223"/>
          </a:xfrm>
        </p:grpSpPr>
        <p:sp>
          <p:nvSpPr>
            <p:cNvPr id="2" name="Freeform 2"/>
            <p:cNvSpPr/>
            <p:nvPr/>
          </p:nvSpPr>
          <p:spPr>
            <a:xfrm>
              <a:off x="598170" y="433388"/>
              <a:ext cx="256222" cy="256223"/>
            </a:xfrm>
            <a:custGeom>
              <a:avLst/>
              <a:gdLst/>
              <a:ahLst/>
              <a:cxnLst/>
              <a:rect l="l" t="t" r="r" b="b"/>
              <a:pathLst>
                <a:path w="256222" h="256223">
                  <a:moveTo>
                    <a:pt x="256222" y="128588"/>
                  </a:moveTo>
                  <a:lnTo>
                    <a:pt x="251460" y="160972"/>
                  </a:lnTo>
                  <a:lnTo>
                    <a:pt x="239078" y="192405"/>
                  </a:lnTo>
                  <a:lnTo>
                    <a:pt x="219075" y="219075"/>
                  </a:lnTo>
                  <a:lnTo>
                    <a:pt x="192405" y="239077"/>
                  </a:lnTo>
                  <a:lnTo>
                    <a:pt x="160972" y="251460"/>
                  </a:lnTo>
                  <a:lnTo>
                    <a:pt x="128587" y="256223"/>
                  </a:lnTo>
                  <a:lnTo>
                    <a:pt x="95250" y="251460"/>
                  </a:lnTo>
                  <a:lnTo>
                    <a:pt x="63817" y="239077"/>
                  </a:lnTo>
                  <a:lnTo>
                    <a:pt x="38100" y="219075"/>
                  </a:lnTo>
                  <a:lnTo>
                    <a:pt x="17145" y="192405"/>
                  </a:lnTo>
                  <a:lnTo>
                    <a:pt x="4762" y="160972"/>
                  </a:lnTo>
                  <a:lnTo>
                    <a:pt x="0" y="128588"/>
                  </a:lnTo>
                  <a:lnTo>
                    <a:pt x="4762" y="95250"/>
                  </a:lnTo>
                  <a:lnTo>
                    <a:pt x="17145" y="63817"/>
                  </a:lnTo>
                  <a:lnTo>
                    <a:pt x="38100" y="38100"/>
                  </a:lnTo>
                  <a:lnTo>
                    <a:pt x="63817" y="17145"/>
                  </a:lnTo>
                  <a:lnTo>
                    <a:pt x="95250" y="4762"/>
                  </a:lnTo>
                  <a:lnTo>
                    <a:pt x="128587" y="0"/>
                  </a:lnTo>
                  <a:lnTo>
                    <a:pt x="160972" y="4762"/>
                  </a:lnTo>
                  <a:lnTo>
                    <a:pt x="192405" y="17145"/>
                  </a:lnTo>
                  <a:lnTo>
                    <a:pt x="219075" y="38100"/>
                  </a:lnTo>
                  <a:lnTo>
                    <a:pt x="239078" y="63817"/>
                  </a:lnTo>
                  <a:lnTo>
                    <a:pt x="251460" y="95250"/>
                  </a:lnTo>
                  <a:lnTo>
                    <a:pt x="256222" y="128588"/>
                  </a:lnTo>
                  <a:close/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661988" y="511492"/>
              <a:ext cx="135255" cy="106680"/>
            </a:xfrm>
            <a:custGeom>
              <a:avLst/>
              <a:gdLst/>
              <a:ahLst/>
              <a:cxnLst/>
              <a:rect l="l" t="t" r="r" b="b"/>
              <a:pathLst>
                <a:path w="135255" h="106680">
                  <a:moveTo>
                    <a:pt x="0" y="57150"/>
                  </a:moveTo>
                  <a:lnTo>
                    <a:pt x="50482" y="106680"/>
                  </a:lnTo>
                  <a:lnTo>
                    <a:pt x="135255" y="0"/>
                  </a:lnTo>
                </a:path>
              </a:pathLst>
            </a:custGeom>
            <a:noFill/>
            <a:ln w="20955" cap="rnd">
              <a:solidFill>
                <a:schemeClr val="accent1"/>
              </a:solidFill>
              <a:round/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1083069" y="369522"/>
            <a:ext cx="819281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总结</a:t>
            </a:r>
          </a:p>
        </p:txBody>
      </p:sp>
      <p:sp>
        <p:nvSpPr>
          <p:cNvPr id="6" name="Rectangle 6"/>
          <p:cNvSpPr/>
          <p:nvPr/>
        </p:nvSpPr>
        <p:spPr>
          <a:xfrm>
            <a:off x="109728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822960" y="161829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089660" y="1556385"/>
            <a:ext cx="2983611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市场窗口已打开，先发优势关键</a:t>
            </a:r>
          </a:p>
        </p:txBody>
      </p:sp>
      <p:sp>
        <p:nvSpPr>
          <p:cNvPr id="9" name="Rectangle 9"/>
          <p:cNvSpPr/>
          <p:nvPr/>
        </p:nvSpPr>
        <p:spPr>
          <a:xfrm>
            <a:off x="822960" y="2221230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089660" y="2160270"/>
            <a:ext cx="340926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知识中枢是壁垒，MCP 生态是杠杆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22960" y="2825115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089660" y="2763202"/>
            <a:ext cx="2983611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三层变现，企业版是高毛利引擎</a:t>
            </a:r>
          </a:p>
        </p:txBody>
      </p:sp>
      <p:sp>
        <p:nvSpPr>
          <p:cNvPr id="13" name="Rectangle 13"/>
          <p:cNvSpPr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998220" y="5534025"/>
            <a:ext cx="576115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本轮融资用于模型日历与海外合规，18 个月做到 10 万付费。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109084" y="6447472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trips dir="r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913120" y="1463040"/>
            <a:ext cx="365760" cy="243840"/>
            <a:chOff x="5913120" y="1463040"/>
            <a:chExt cx="365760" cy="243840"/>
          </a:xfrm>
        </p:grpSpPr>
        <p:sp>
          <p:nvSpPr>
            <p:cNvPr id="2" name="Freeform 2"/>
            <p:cNvSpPr/>
            <p:nvPr/>
          </p:nvSpPr>
          <p:spPr>
            <a:xfrm>
              <a:off x="5913120" y="1463040"/>
              <a:ext cx="365760" cy="243840"/>
            </a:xfrm>
            <a:custGeom>
              <a:avLst/>
              <a:gdLst/>
              <a:ahLst/>
              <a:cxnLst/>
              <a:rect l="l" t="t" r="r" b="b"/>
              <a:pathLst>
                <a:path w="365760" h="243840">
                  <a:moveTo>
                    <a:pt x="0" y="0"/>
                  </a:moveTo>
                  <a:lnTo>
                    <a:pt x="365760" y="0"/>
                  </a:lnTo>
                  <a:lnTo>
                    <a:pt x="365760" y="243840"/>
                  </a:lnTo>
                  <a:lnTo>
                    <a:pt x="0" y="24384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36195" cap="rnd">
              <a:solidFill>
                <a:schemeClr val="accent1"/>
              </a:solidFill>
              <a:round/>
            </a:ln>
          </p:spPr>
        </p:sp>
        <p:sp>
          <p:nvSpPr>
            <p:cNvPr id="3" name="Freeform 3"/>
            <p:cNvSpPr/>
            <p:nvPr/>
          </p:nvSpPr>
          <p:spPr>
            <a:xfrm>
              <a:off x="5913120" y="1463040"/>
              <a:ext cx="365760" cy="134302"/>
            </a:xfrm>
            <a:custGeom>
              <a:avLst/>
              <a:gdLst/>
              <a:ahLst/>
              <a:cxnLst/>
              <a:rect l="l" t="t" r="r" b="b"/>
              <a:pathLst>
                <a:path w="365760" h="134302">
                  <a:moveTo>
                    <a:pt x="0" y="0"/>
                  </a:moveTo>
                  <a:lnTo>
                    <a:pt x="182880" y="134302"/>
                  </a:lnTo>
                  <a:lnTo>
                    <a:pt x="365760" y="0"/>
                  </a:lnTo>
                </a:path>
              </a:pathLst>
            </a:custGeom>
            <a:noFill/>
            <a:ln w="36195" cap="rnd">
              <a:solidFill>
                <a:schemeClr val="accent1"/>
              </a:solidFill>
              <a:round/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5059985" y="2199322"/>
            <a:ext cx="2072030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联系我们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227655" y="3293697"/>
            <a:ext cx="3736690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invest@reasonix.ai · 微信 aibak2026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09084" y="6447472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theme/theme1.xml><?xml version="1.0" encoding="utf-8"?>
<a:theme xmlns:a="http://schemas.openxmlformats.org/drawingml/2006/main" name="hifi_project">
  <a:themeElements>
    <a:clrScheme name="hifi_project">
      <a:dk1>
        <a:srgbClr val="FFFFFF"/>
      </a:dk1>
      <a:lt1>
        <a:srgbClr val="0D1117"/>
      </a:lt1>
      <a:dk2>
        <a:srgbClr val="FFFFFF"/>
      </a:dk2>
      <a:lt2>
        <a:srgbClr val="0D1117"/>
      </a:lt2>
      <a:accent1>
        <a:srgbClr val="D4A060"/>
      </a:accent1>
      <a:accent2>
        <a:srgbClr val="3FB950"/>
      </a:accent2>
      <a:accent3>
        <a:srgbClr val="3FB950"/>
      </a:accent3>
      <a:accent4>
        <a:srgbClr val="D4A060"/>
      </a:accent4>
      <a:accent5>
        <a:srgbClr val="58A6FF"/>
      </a:accent5>
      <a:accent6>
        <a:srgbClr val="151D2E"/>
      </a:accent6>
      <a:hlink>
        <a:srgbClr val="3FB950"/>
      </a:hlink>
      <a:folHlink>
        <a:srgbClr val="3FB950"/>
      </a:folHlink>
    </a:clrScheme>
    <a:fontScheme name="hifi_project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ifi_projec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2026-07-13T21:27:59Z</dcterms:created>
  <dcterms:modified xsi:type="dcterms:W3CDTF">2026-07-13T21:27:59Z</dcterms:modified>
  <cp:category/>
  <cp:contentStatus/>
</cp:coreProperties>
</file>