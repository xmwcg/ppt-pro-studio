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jec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jec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 sz="1350"/>
      </a:defPPr>
      <a:lvl1pPr marL="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682257" y="2108787"/>
            <a:ext cx="6827486" cy="89487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6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AI Agent 平台商业计划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365162" y="3842433"/>
            <a:ext cx="7461675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0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一站式 AI Agent 商业平台 · 知识管理 · 智能工具 · 团队协作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22620" y="4939617"/>
            <a:ext cx="2746759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2026 投资人路演 · 免费开源可商用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wipe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34429" y="369522"/>
            <a:ext cx="819281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3" name="Rectangle 3"/>
          <p:cNvSpPr/>
          <p:nvPr/>
        </p:nvSpPr>
        <p:spPr>
          <a:xfrm>
            <a:off x="54864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12787" y="1632633"/>
            <a:ext cx="331706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46365" y="1556337"/>
            <a:ext cx="876452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市场机会</a:t>
            </a:r>
          </a:p>
        </p:txBody>
      </p:sp>
      <p:sp>
        <p:nvSpPr>
          <p:cNvPr id="6" name="Line 6"/>
          <p:cNvSpPr/>
          <p:nvPr/>
        </p:nvSpPr>
        <p:spPr>
          <a:xfrm>
            <a:off x="822960" y="2276475"/>
            <a:ext cx="10424160" cy="9525"/>
          </a:xfrm>
          <a:custGeom>
            <a:avLst/>
            <a:gdLst/>
            <a:ahLst/>
            <a:cxnLst/>
            <a:rect l="l" t="t" r="r" b="b"/>
            <a:pathLst>
              <a:path w="10424160" h="9525">
                <a:moveTo>
                  <a:pt x="0" y="0"/>
                </a:moveTo>
                <a:lnTo>
                  <a:pt x="1042416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812787" y="2409873"/>
            <a:ext cx="331706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46365" y="2333577"/>
            <a:ext cx="876452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产品矩阵</a:t>
            </a:r>
          </a:p>
        </p:txBody>
      </p:sp>
      <p:sp>
        <p:nvSpPr>
          <p:cNvPr id="9" name="Line 9"/>
          <p:cNvSpPr/>
          <p:nvPr/>
        </p:nvSpPr>
        <p:spPr>
          <a:xfrm>
            <a:off x="822960" y="3053715"/>
            <a:ext cx="10424160" cy="9525"/>
          </a:xfrm>
          <a:custGeom>
            <a:avLst/>
            <a:gdLst/>
            <a:ahLst/>
            <a:cxnLst/>
            <a:rect l="l" t="t" r="r" b="b"/>
            <a:pathLst>
              <a:path w="10424160" h="9525">
                <a:moveTo>
                  <a:pt x="0" y="0"/>
                </a:moveTo>
                <a:lnTo>
                  <a:pt x="1042416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812787" y="3187113"/>
            <a:ext cx="331706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46365" y="3110817"/>
            <a:ext cx="876452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商业模式</a:t>
            </a:r>
          </a:p>
        </p:txBody>
      </p:sp>
      <p:sp>
        <p:nvSpPr>
          <p:cNvPr id="12" name="Line 12"/>
          <p:cNvSpPr/>
          <p:nvPr/>
        </p:nvSpPr>
        <p:spPr>
          <a:xfrm>
            <a:off x="822960" y="3830955"/>
            <a:ext cx="10424160" cy="9525"/>
          </a:xfrm>
          <a:custGeom>
            <a:avLst/>
            <a:gdLst/>
            <a:ahLst/>
            <a:cxnLst/>
            <a:rect l="l" t="t" r="r" b="b"/>
            <a:pathLst>
              <a:path w="10424160" h="9525">
                <a:moveTo>
                  <a:pt x="0" y="0"/>
                </a:moveTo>
                <a:lnTo>
                  <a:pt x="1042416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812787" y="3964353"/>
            <a:ext cx="331706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6365" y="3888057"/>
            <a:ext cx="876452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增长路线</a:t>
            </a:r>
          </a:p>
        </p:txBody>
      </p:sp>
      <p:sp>
        <p:nvSpPr>
          <p:cNvPr id="15" name="Line 15"/>
          <p:cNvSpPr/>
          <p:nvPr/>
        </p:nvSpPr>
        <p:spPr>
          <a:xfrm>
            <a:off x="822960" y="4608195"/>
            <a:ext cx="10424160" cy="9525"/>
          </a:xfrm>
          <a:custGeom>
            <a:avLst/>
            <a:gdLst/>
            <a:ahLst/>
            <a:cxnLst/>
            <a:rect l="l" t="t" r="r" b="b"/>
            <a:pathLst>
              <a:path w="10424160" h="9525">
                <a:moveTo>
                  <a:pt x="0" y="0"/>
                </a:moveTo>
                <a:lnTo>
                  <a:pt x="1042416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812787" y="4741593"/>
            <a:ext cx="331706" cy="3916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00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46365" y="4665297"/>
            <a:ext cx="1091508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团队与融资</a:t>
            </a:r>
          </a:p>
        </p:txBody>
      </p:sp>
      <p:sp>
        <p:nvSpPr>
          <p:cNvPr id="18" name="Line 18"/>
          <p:cNvSpPr/>
          <p:nvPr/>
        </p:nvSpPr>
        <p:spPr>
          <a:xfrm>
            <a:off x="822960" y="5385435"/>
            <a:ext cx="10424160" cy="9525"/>
          </a:xfrm>
          <a:custGeom>
            <a:avLst/>
            <a:gdLst/>
            <a:ahLst/>
            <a:cxnLst/>
            <a:rect l="l" t="t" r="r" b="b"/>
            <a:pathLst>
              <a:path w="10424160" h="9525">
                <a:moveTo>
                  <a:pt x="0" y="0"/>
                </a:moveTo>
                <a:lnTo>
                  <a:pt x="10424160" y="0"/>
                </a:lnTo>
              </a:path>
            </a:pathLst>
          </a:custGeom>
          <a:noFill/>
          <a:ln w="9525">
            <a:solidFill>
              <a:srgbClr val="30363D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2834640"/>
            <a:ext cx="12192000" cy="11887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2834640"/>
            <a:ext cx="38100" cy="1188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05701" y="2976515"/>
            <a:ext cx="2627815" cy="6644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01 市场机会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15835" y="3933873"/>
            <a:ext cx="1713490" cy="27430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企业智能体需求爆发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plit orient="horz" dir="ou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34429" y="369522"/>
            <a:ext cx="2400999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为什么是现在</a:t>
            </a:r>
          </a:p>
        </p:txBody>
      </p:sp>
      <p:sp>
        <p:nvSpPr>
          <p:cNvPr id="3" name="Rectangle 3"/>
          <p:cNvSpPr/>
          <p:nvPr/>
        </p:nvSpPr>
        <p:spPr>
          <a:xfrm>
            <a:off x="54864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822960" y="161829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89660" y="1556385"/>
            <a:ext cx="171145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企业知识孤岛严重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91184" y="1809750"/>
            <a:ext cx="213649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80% 内部文档无法被检索调用</a:t>
            </a:r>
          </a:p>
        </p:txBody>
      </p:sp>
      <p:sp>
        <p:nvSpPr>
          <p:cNvPr id="7" name="Rectangle 7"/>
          <p:cNvSpPr/>
          <p:nvPr/>
        </p:nvSpPr>
        <p:spPr>
          <a:xfrm>
            <a:off x="822960" y="2185035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089660" y="2123122"/>
            <a:ext cx="149942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人工流程成本高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1184" y="2376488"/>
            <a:ext cx="206380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重复性办公任务占工时 40%+</a:t>
            </a:r>
          </a:p>
        </p:txBody>
      </p:sp>
      <p:sp>
        <p:nvSpPr>
          <p:cNvPr id="10" name="Rectangle 10"/>
          <p:cNvSpPr/>
          <p:nvPr/>
        </p:nvSpPr>
        <p:spPr>
          <a:xfrm>
            <a:off x="822960" y="2751772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089660" y="2689860"/>
            <a:ext cx="149942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大模型能力成熟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91184" y="2944177"/>
            <a:ext cx="254447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多模态 + 长上下文让 Agent 可落地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cover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34429" y="369522"/>
            <a:ext cx="3350030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市场规模 (亿美元)</a:t>
            </a:r>
          </a:p>
        </p:txBody>
      </p:sp>
      <p:sp>
        <p:nvSpPr>
          <p:cNvPr id="3" name="Rectangle 3"/>
          <p:cNvSpPr/>
          <p:nvPr/>
        </p:nvSpPr>
        <p:spPr>
          <a:xfrm>
            <a:off x="54864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16864" y="2054543"/>
            <a:ext cx="36758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2024</a:t>
            </a:r>
          </a:p>
        </p:txBody>
      </p:sp>
      <p:sp>
        <p:nvSpPr>
          <p:cNvPr id="5" name="Rectangle 5"/>
          <p:cNvSpPr/>
          <p:nvPr/>
        </p:nvSpPr>
        <p:spPr>
          <a:xfrm>
            <a:off x="2286000" y="1928812"/>
            <a:ext cx="1062990" cy="623888"/>
          </a:xfrm>
          <a:prstGeom prst="roundRect">
            <a:avLst>
              <a:gd name="adj" fmla="val 3053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3434829" y="2042208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16864" y="3060382"/>
            <a:ext cx="36758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2025</a:t>
            </a:r>
          </a:p>
        </p:txBody>
      </p:sp>
      <p:sp>
        <p:nvSpPr>
          <p:cNvPr id="8" name="Rectangle 8"/>
          <p:cNvSpPr/>
          <p:nvPr/>
        </p:nvSpPr>
        <p:spPr>
          <a:xfrm>
            <a:off x="2286000" y="2934652"/>
            <a:ext cx="2480310" cy="623888"/>
          </a:xfrm>
          <a:prstGeom prst="roundRect">
            <a:avLst>
              <a:gd name="adj" fmla="val 3053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4852149" y="3048048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280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6864" y="4066222"/>
            <a:ext cx="48158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2026E</a:t>
            </a:r>
          </a:p>
        </p:txBody>
      </p:sp>
      <p:sp>
        <p:nvSpPr>
          <p:cNvPr id="11" name="Rectangle 11"/>
          <p:cNvSpPr/>
          <p:nvPr/>
        </p:nvSpPr>
        <p:spPr>
          <a:xfrm>
            <a:off x="2286000" y="3940492"/>
            <a:ext cx="4783455" cy="623888"/>
          </a:xfrm>
          <a:prstGeom prst="roundRect">
            <a:avLst>
              <a:gd name="adj" fmla="val 3053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7155294" y="4053888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540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16864" y="5072062"/>
            <a:ext cx="48158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2027E</a:t>
            </a:r>
          </a:p>
        </p:txBody>
      </p:sp>
      <p:sp>
        <p:nvSpPr>
          <p:cNvPr id="14" name="Rectangle 14"/>
          <p:cNvSpPr/>
          <p:nvPr/>
        </p:nvSpPr>
        <p:spPr>
          <a:xfrm>
            <a:off x="2286000" y="4946332"/>
            <a:ext cx="8503920" cy="623888"/>
          </a:xfrm>
          <a:prstGeom prst="roundRect">
            <a:avLst>
              <a:gd name="adj" fmla="val 3053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0875759" y="5059728"/>
            <a:ext cx="256092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960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2834640"/>
            <a:ext cx="12192000" cy="11887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2834640"/>
            <a:ext cx="38100" cy="1188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805701" y="2976515"/>
            <a:ext cx="2627815" cy="6644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02 产品矩阵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15835" y="3933873"/>
            <a:ext cx="1335881" cy="27430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四层一体化平台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34429" y="369522"/>
            <a:ext cx="1610140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产品矩阵</a:t>
            </a:r>
          </a:p>
        </p:txBody>
      </p:sp>
      <p:sp>
        <p:nvSpPr>
          <p:cNvPr id="3" name="Rectangle 3"/>
          <p:cNvSpPr/>
          <p:nvPr/>
        </p:nvSpPr>
        <p:spPr>
          <a:xfrm>
            <a:off x="54864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48640" y="1554480"/>
            <a:ext cx="5394960" cy="43891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6217920" y="1554480"/>
            <a:ext cx="5394960" cy="43891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814845" y="1739217"/>
            <a:ext cx="693655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能力层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484125" y="1739217"/>
            <a:ext cx="693655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交付层</a:t>
            </a:r>
          </a:p>
        </p:txBody>
      </p:sp>
      <p:sp>
        <p:nvSpPr>
          <p:cNvPr id="8" name="Rectangle 8"/>
          <p:cNvSpPr/>
          <p:nvPr/>
        </p:nvSpPr>
        <p:spPr>
          <a:xfrm>
            <a:off x="822960" y="234981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089660" y="2287905"/>
            <a:ext cx="134820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知识中枢 RAG</a:t>
            </a:r>
          </a:p>
        </p:txBody>
      </p:sp>
      <p:sp>
        <p:nvSpPr>
          <p:cNvPr id="10" name="Rectangle 10"/>
          <p:cNvSpPr/>
          <p:nvPr/>
        </p:nvSpPr>
        <p:spPr>
          <a:xfrm>
            <a:off x="822960" y="289845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089660" y="2836545"/>
            <a:ext cx="107537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多模型调度</a:t>
            </a:r>
          </a:p>
        </p:txBody>
      </p:sp>
      <p:sp>
        <p:nvSpPr>
          <p:cNvPr id="12" name="Rectangle 12"/>
          <p:cNvSpPr/>
          <p:nvPr/>
        </p:nvSpPr>
        <p:spPr>
          <a:xfrm>
            <a:off x="822960" y="344709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089660" y="3385185"/>
            <a:ext cx="139301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MCP 插件市场</a:t>
            </a:r>
          </a:p>
        </p:txBody>
      </p:sp>
      <p:sp>
        <p:nvSpPr>
          <p:cNvPr id="14" name="Rectangle 14"/>
          <p:cNvSpPr/>
          <p:nvPr/>
        </p:nvSpPr>
        <p:spPr>
          <a:xfrm>
            <a:off x="822960" y="399573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089660" y="393382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技能编排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492240" y="234981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6758940" y="2287905"/>
            <a:ext cx="94495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AI 对话框</a:t>
            </a:r>
          </a:p>
        </p:txBody>
      </p:sp>
      <p:sp>
        <p:nvSpPr>
          <p:cNvPr id="18" name="Rectangle 18"/>
          <p:cNvSpPr/>
          <p:nvPr/>
        </p:nvSpPr>
        <p:spPr>
          <a:xfrm>
            <a:off x="6492240" y="289845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6758940" y="283654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学习中心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492240" y="344709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6758940" y="3385185"/>
            <a:ext cx="86334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创作工坊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492240" y="399573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6758940" y="3933825"/>
            <a:ext cx="124739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企业版 RBAC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random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34429" y="369522"/>
            <a:ext cx="1610140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增长路线</a:t>
            </a:r>
          </a:p>
        </p:txBody>
      </p:sp>
      <p:sp>
        <p:nvSpPr>
          <p:cNvPr id="3" name="Rectangle 3"/>
          <p:cNvSpPr/>
          <p:nvPr/>
        </p:nvSpPr>
        <p:spPr>
          <a:xfrm>
            <a:off x="54864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Line 4"/>
          <p:cNvSpPr/>
          <p:nvPr/>
        </p:nvSpPr>
        <p:spPr>
          <a:xfrm>
            <a:off x="914400" y="3657600"/>
            <a:ext cx="10332720" cy="9525"/>
          </a:xfrm>
          <a:custGeom>
            <a:avLst/>
            <a:gdLst/>
            <a:ahLst/>
            <a:cxnLst/>
            <a:rect l="l" t="t" r="r" b="b"/>
            <a:pathLst>
              <a:path w="10332720" h="9525">
                <a:moveTo>
                  <a:pt x="0" y="0"/>
                </a:moveTo>
                <a:lnTo>
                  <a:pt x="10332720" y="0"/>
                </a:lnTo>
              </a:path>
            </a:pathLst>
          </a:custGeom>
          <a:noFill/>
          <a:ln w="19050">
            <a:solidFill>
              <a:srgbClr val="30363D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2155508" y="3607118"/>
            <a:ext cx="101918" cy="1019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1884499" y="2699337"/>
            <a:ext cx="642981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P1 MVP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92713" y="3795760"/>
            <a:ext cx="1226553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知识库+对话+RAG</a:t>
            </a:r>
          </a:p>
        </p:txBody>
      </p:sp>
      <p:sp>
        <p:nvSpPr>
          <p:cNvPr id="8" name="Rectangle 8"/>
          <p:cNvSpPr/>
          <p:nvPr/>
        </p:nvSpPr>
        <p:spPr>
          <a:xfrm>
            <a:off x="4738688" y="3607118"/>
            <a:ext cx="101918" cy="1019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4453146" y="2699337"/>
            <a:ext cx="672049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P2 生态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281747" y="3795760"/>
            <a:ext cx="1014847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学习路径+MCP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321868" y="3607118"/>
            <a:ext cx="101918" cy="1019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7036326" y="2699337"/>
            <a:ext cx="672049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P3 企业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880679" y="3795760"/>
            <a:ext cx="983343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知识图谱+沙盒</a:t>
            </a:r>
          </a:p>
        </p:txBody>
      </p:sp>
      <p:sp>
        <p:nvSpPr>
          <p:cNvPr id="14" name="Rectangle 14"/>
          <p:cNvSpPr/>
          <p:nvPr/>
        </p:nvSpPr>
        <p:spPr>
          <a:xfrm>
            <a:off x="9905048" y="3607118"/>
            <a:ext cx="101918" cy="1019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619506" y="2699337"/>
            <a:ext cx="672049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P4 桌面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570930" y="3795760"/>
            <a:ext cx="769200" cy="2156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Tauri+出海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trips dir="r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34429" y="369522"/>
            <a:ext cx="2400999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商业模式对比</a:t>
            </a:r>
          </a:p>
        </p:txBody>
      </p:sp>
      <p:sp>
        <p:nvSpPr>
          <p:cNvPr id="3" name="Rectangle 3"/>
          <p:cNvSpPr/>
          <p:nvPr/>
        </p:nvSpPr>
        <p:spPr>
          <a:xfrm>
            <a:off x="54864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48640" y="1554480"/>
            <a:ext cx="276606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33489" y="1687782"/>
            <a:ext cx="379988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层级</a:t>
            </a:r>
          </a:p>
        </p:txBody>
      </p:sp>
      <p:sp>
        <p:nvSpPr>
          <p:cNvPr id="6" name="Rectangle 6"/>
          <p:cNvSpPr/>
          <p:nvPr/>
        </p:nvSpPr>
        <p:spPr>
          <a:xfrm>
            <a:off x="3314700" y="1554480"/>
            <a:ext cx="276606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3399549" y="1687782"/>
            <a:ext cx="379988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对象</a:t>
            </a:r>
          </a:p>
        </p:txBody>
      </p:sp>
      <p:sp>
        <p:nvSpPr>
          <p:cNvPr id="8" name="Rectangle 8"/>
          <p:cNvSpPr/>
          <p:nvPr/>
        </p:nvSpPr>
        <p:spPr>
          <a:xfrm>
            <a:off x="6080760" y="1554480"/>
            <a:ext cx="276606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6165609" y="1687782"/>
            <a:ext cx="439508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ARPU</a:t>
            </a:r>
          </a:p>
        </p:txBody>
      </p:sp>
      <p:sp>
        <p:nvSpPr>
          <p:cNvPr id="10" name="Rectangle 10"/>
          <p:cNvSpPr/>
          <p:nvPr/>
        </p:nvSpPr>
        <p:spPr>
          <a:xfrm>
            <a:off x="8846820" y="1554480"/>
            <a:ext cx="2766060" cy="109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8931669" y="1687782"/>
            <a:ext cx="379988" cy="253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毛利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48640" y="265176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33984" y="278511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免费</a:t>
            </a:r>
          </a:p>
        </p:txBody>
      </p:sp>
      <p:sp>
        <p:nvSpPr>
          <p:cNvPr id="14" name="Rectangle 14"/>
          <p:cNvSpPr/>
          <p:nvPr/>
        </p:nvSpPr>
        <p:spPr>
          <a:xfrm>
            <a:off x="3314700" y="265176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400044" y="278511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个人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080760" y="265176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6166104" y="278511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0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846820" y="265176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932164" y="2785110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-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48640" y="3749040"/>
            <a:ext cx="276606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633984" y="388239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会员</a:t>
            </a:r>
          </a:p>
        </p:txBody>
      </p:sp>
      <p:sp>
        <p:nvSpPr>
          <p:cNvPr id="22" name="Rectangle 22"/>
          <p:cNvSpPr/>
          <p:nvPr/>
        </p:nvSpPr>
        <p:spPr>
          <a:xfrm>
            <a:off x="3314700" y="3749040"/>
            <a:ext cx="276606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3400044" y="3882390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专业用户</a:t>
            </a:r>
          </a:p>
        </p:txBody>
      </p:sp>
      <p:sp>
        <p:nvSpPr>
          <p:cNvPr id="24" name="Rectangle 24"/>
          <p:cNvSpPr/>
          <p:nvPr/>
        </p:nvSpPr>
        <p:spPr>
          <a:xfrm>
            <a:off x="6080760" y="3749040"/>
            <a:ext cx="276606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6166104" y="3882390"/>
            <a:ext cx="52913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¥99/月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846820" y="3749040"/>
            <a:ext cx="276606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8932164" y="3882390"/>
            <a:ext cx="31104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85%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48640" y="484632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633984" y="497967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企业</a:t>
            </a:r>
          </a:p>
        </p:txBody>
      </p:sp>
      <p:sp>
        <p:nvSpPr>
          <p:cNvPr id="30" name="Rectangle 30"/>
          <p:cNvSpPr/>
          <p:nvPr/>
        </p:nvSpPr>
        <p:spPr>
          <a:xfrm>
            <a:off x="3314700" y="484632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3400044" y="4979670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团队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080760" y="484632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6166104" y="4979670"/>
            <a:ext cx="9572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¥1999/席/年</a:t>
            </a:r>
          </a:p>
        </p:txBody>
      </p:sp>
      <p:sp>
        <p:nvSpPr>
          <p:cNvPr id="34" name="Rectangle 34"/>
          <p:cNvSpPr/>
          <p:nvPr/>
        </p:nvSpPr>
        <p:spPr>
          <a:xfrm>
            <a:off x="8846820" y="4846320"/>
            <a:ext cx="2766060" cy="10972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8932164" y="4979670"/>
            <a:ext cx="31104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90%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175721" y="6447472"/>
            <a:ext cx="7616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78230" y="1569720"/>
            <a:ext cx="971017" cy="2305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“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58379" y="2106025"/>
            <a:ext cx="8707153" cy="50899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让每个企业都有自己的 AI 员工，从一份知识库开始。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63980" y="4756785"/>
            <a:ext cx="175052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— Reasonix AI 使命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109084" y="6447472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wipe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34429" y="369522"/>
            <a:ext cx="819281" cy="5471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总结</a:t>
            </a:r>
          </a:p>
        </p:txBody>
      </p:sp>
      <p:sp>
        <p:nvSpPr>
          <p:cNvPr id="3" name="Rectangle 3"/>
          <p:cNvSpPr/>
          <p:nvPr/>
        </p:nvSpPr>
        <p:spPr>
          <a:xfrm>
            <a:off x="548640" y="1023938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822960" y="1618298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89660" y="1556385"/>
            <a:ext cx="2983611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市场窗口已打开，先发优势关键</a:t>
            </a:r>
          </a:p>
        </p:txBody>
      </p:sp>
      <p:sp>
        <p:nvSpPr>
          <p:cNvPr id="6" name="Rectangle 6"/>
          <p:cNvSpPr/>
          <p:nvPr/>
        </p:nvSpPr>
        <p:spPr>
          <a:xfrm>
            <a:off x="822960" y="2221230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089660" y="2160270"/>
            <a:ext cx="340926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知识中枢是壁垒，MCP 生态是杠杆</a:t>
            </a:r>
          </a:p>
        </p:txBody>
      </p:sp>
      <p:sp>
        <p:nvSpPr>
          <p:cNvPr id="8" name="Rectangle 8"/>
          <p:cNvSpPr/>
          <p:nvPr/>
        </p:nvSpPr>
        <p:spPr>
          <a:xfrm>
            <a:off x="822960" y="2825115"/>
            <a:ext cx="63818" cy="6381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089660" y="2763202"/>
            <a:ext cx="2983611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三层变现，企业版是高毛利引擎</a:t>
            </a:r>
          </a:p>
        </p:txBody>
      </p:sp>
      <p:sp>
        <p:nvSpPr>
          <p:cNvPr id="10" name="Rectangle 10"/>
          <p:cNvSpPr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998220" y="5534025"/>
            <a:ext cx="576115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本轮融资用于模型日历与海外合规，18 个月做到 10 万付费。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109084" y="6447472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trips dir="r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59985" y="2016442"/>
            <a:ext cx="2072030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联系我们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227655" y="3110817"/>
            <a:ext cx="3736690" cy="3124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invest@reasonix.ai · 微信 aibak2026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2438" y="6447472"/>
            <a:ext cx="10506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Reasonix AI · 机密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09084" y="6447472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8B949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theme/theme1.xml><?xml version="1.0" encoding="utf-8"?>
<a:theme xmlns:a="http://schemas.openxmlformats.org/drawingml/2006/main" name="project">
  <a:themeElements>
    <a:clrScheme name="project">
      <a:dk1>
        <a:srgbClr val="FFFFFF"/>
      </a:dk1>
      <a:lt1>
        <a:srgbClr val="0D1117"/>
      </a:lt1>
      <a:dk2>
        <a:srgbClr val="FFFFFF"/>
      </a:dk2>
      <a:lt2>
        <a:srgbClr val="0D1117"/>
      </a:lt2>
      <a:accent1>
        <a:srgbClr val="D4A060"/>
      </a:accent1>
      <a:accent2>
        <a:srgbClr val="3FB950"/>
      </a:accent2>
      <a:accent3>
        <a:srgbClr val="3FB950"/>
      </a:accent3>
      <a:accent4>
        <a:srgbClr val="D4A060"/>
      </a:accent4>
      <a:accent5>
        <a:srgbClr val="58A6FF"/>
      </a:accent5>
      <a:accent6>
        <a:srgbClr val="151D2E"/>
      </a:accent6>
      <a:hlink>
        <a:srgbClr val="3FB950"/>
      </a:hlink>
      <a:folHlink>
        <a:srgbClr val="3FB950"/>
      </a:folHlink>
    </a:clrScheme>
    <a:fontScheme name="project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jec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2026-07-13T18:47:27Z</dcterms:created>
  <dcterms:modified xsi:type="dcterms:W3CDTF">2026-07-13T18:47:27Z</dcterms:modified>
  <cp:category/>
  <cp:contentStatus/>
</cp:coreProperties>
</file>