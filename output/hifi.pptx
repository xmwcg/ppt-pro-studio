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350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98845" y="1457325"/>
            <a:ext cx="194310" cy="340995"/>
            <a:chOff x="5998845" y="1457325"/>
            <a:chExt cx="194310" cy="340995"/>
          </a:xfrm>
        </p:grpSpPr>
        <p:sp>
          <p:nvSpPr>
            <p:cNvPr id="2" name="Freeform 2"/>
            <p:cNvSpPr/>
            <p:nvPr/>
          </p:nvSpPr>
          <p:spPr>
            <a:xfrm>
              <a:off x="6035040" y="1457325"/>
              <a:ext cx="121920" cy="243840"/>
            </a:xfrm>
            <a:custGeom>
              <a:avLst/>
              <a:gdLst/>
              <a:ahLst/>
              <a:cxnLst/>
              <a:rect l="l" t="t" r="r" b="b"/>
              <a:pathLst>
                <a:path w="121920" h="243840">
                  <a:moveTo>
                    <a:pt x="0" y="0"/>
                  </a:moveTo>
                  <a:lnTo>
                    <a:pt x="121920" y="36195"/>
                  </a:lnTo>
                  <a:lnTo>
                    <a:pt x="109538" y="243840"/>
                  </a:lnTo>
                  <a:lnTo>
                    <a:pt x="12382" y="2438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5998845" y="1701165"/>
              <a:ext cx="60960" cy="97155"/>
            </a:xfrm>
            <a:custGeom>
              <a:avLst/>
              <a:gdLst/>
              <a:ahLst/>
              <a:cxnLst/>
              <a:rect l="l" t="t" r="r" b="b"/>
              <a:pathLst>
                <a:path w="60960" h="97155">
                  <a:moveTo>
                    <a:pt x="48578" y="0"/>
                  </a:moveTo>
                  <a:lnTo>
                    <a:pt x="0" y="97155"/>
                  </a:lnTo>
                  <a:lnTo>
                    <a:pt x="60960" y="60960"/>
                  </a:lnTo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6132195" y="1701165"/>
              <a:ext cx="60960" cy="97155"/>
            </a:xfrm>
            <a:custGeom>
              <a:avLst/>
              <a:gdLst/>
              <a:ahLst/>
              <a:cxnLst/>
              <a:rect l="l" t="t" r="r" b="b"/>
              <a:pathLst>
                <a:path w="60960" h="97155">
                  <a:moveTo>
                    <a:pt x="12383" y="0"/>
                  </a:moveTo>
                  <a:lnTo>
                    <a:pt x="60960" y="97155"/>
                  </a:lnTo>
                  <a:lnTo>
                    <a:pt x="0" y="60960"/>
                  </a:lnTo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  <p:sp>
          <p:nvSpPr>
            <p:cNvPr id="5" name="Freeform 5"/>
            <p:cNvSpPr/>
            <p:nvPr/>
          </p:nvSpPr>
          <p:spPr>
            <a:xfrm>
              <a:off x="6059805" y="1518285"/>
              <a:ext cx="72390" cy="72390"/>
            </a:xfrm>
            <a:custGeom>
              <a:avLst/>
              <a:gdLst/>
              <a:ahLst/>
              <a:cxnLst/>
              <a:rect l="l" t="t" r="r" b="b"/>
              <a:pathLst>
                <a:path w="72390" h="72390">
                  <a:moveTo>
                    <a:pt x="72390" y="36195"/>
                  </a:moveTo>
                  <a:lnTo>
                    <a:pt x="71438" y="45720"/>
                  </a:lnTo>
                  <a:lnTo>
                    <a:pt x="67627" y="54292"/>
                  </a:lnTo>
                  <a:lnTo>
                    <a:pt x="61912" y="61912"/>
                  </a:lnTo>
                  <a:lnTo>
                    <a:pt x="54292" y="67627"/>
                  </a:lnTo>
                  <a:lnTo>
                    <a:pt x="45720" y="71438"/>
                  </a:lnTo>
                  <a:lnTo>
                    <a:pt x="36195" y="72390"/>
                  </a:lnTo>
                  <a:lnTo>
                    <a:pt x="26670" y="71438"/>
                  </a:lnTo>
                  <a:lnTo>
                    <a:pt x="18097" y="67627"/>
                  </a:lnTo>
                  <a:lnTo>
                    <a:pt x="10477" y="61912"/>
                  </a:lnTo>
                  <a:lnTo>
                    <a:pt x="4762" y="54292"/>
                  </a:lnTo>
                  <a:lnTo>
                    <a:pt x="952" y="45720"/>
                  </a:lnTo>
                  <a:lnTo>
                    <a:pt x="0" y="36195"/>
                  </a:lnTo>
                  <a:lnTo>
                    <a:pt x="952" y="26670"/>
                  </a:lnTo>
                  <a:lnTo>
                    <a:pt x="4762" y="18098"/>
                  </a:lnTo>
                  <a:lnTo>
                    <a:pt x="10477" y="10477"/>
                  </a:lnTo>
                  <a:lnTo>
                    <a:pt x="18097" y="4762"/>
                  </a:lnTo>
                  <a:lnTo>
                    <a:pt x="26670" y="952"/>
                  </a:lnTo>
                  <a:lnTo>
                    <a:pt x="36195" y="0"/>
                  </a:lnTo>
                  <a:lnTo>
                    <a:pt x="45720" y="952"/>
                  </a:lnTo>
                  <a:lnTo>
                    <a:pt x="54292" y="4762"/>
                  </a:lnTo>
                  <a:lnTo>
                    <a:pt x="61912" y="10477"/>
                  </a:lnTo>
                  <a:lnTo>
                    <a:pt x="67627" y="18098"/>
                  </a:lnTo>
                  <a:lnTo>
                    <a:pt x="71438" y="26670"/>
                  </a:lnTo>
                  <a:lnTo>
                    <a:pt x="72390" y="36195"/>
                  </a:lnTo>
                  <a:close/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2682257" y="2383107"/>
            <a:ext cx="6827486" cy="894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AI Agent 平台商业计划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5162" y="3842433"/>
            <a:ext cx="7461675" cy="3916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一站式 AI Agent 商业平台 · 知识管理 · 智能工具 · 团队协作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22620" y="4939617"/>
            <a:ext cx="2746759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2026 投资人路演 · 免费开源可商用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605790" y="476250"/>
            <a:ext cx="213360" cy="170497"/>
            <a:chOff x="605790" y="476250"/>
            <a:chExt cx="213360" cy="170497"/>
          </a:xfrm>
        </p:grpSpPr>
        <p:sp>
          <p:nvSpPr>
            <p:cNvPr id="2" name="Freeform 2"/>
            <p:cNvSpPr/>
            <p:nvPr/>
          </p:nvSpPr>
          <p:spPr>
            <a:xfrm>
              <a:off x="655320" y="490538"/>
              <a:ext cx="163830" cy="9525"/>
            </a:xfrm>
            <a:custGeom>
              <a:avLst/>
              <a:gdLst/>
              <a:ahLst/>
              <a:cxnLst/>
              <a:rect l="l" t="t" r="r" b="b"/>
              <a:pathLst>
                <a:path w="163830" h="9525">
                  <a:moveTo>
                    <a:pt x="0" y="0"/>
                  </a:moveTo>
                  <a:lnTo>
                    <a:pt x="16383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655320" y="561975"/>
              <a:ext cx="163830" cy="9525"/>
            </a:xfrm>
            <a:custGeom>
              <a:avLst/>
              <a:gdLst/>
              <a:ahLst/>
              <a:cxnLst/>
              <a:rect l="l" t="t" r="r" b="b"/>
              <a:pathLst>
                <a:path w="163830" h="9525">
                  <a:moveTo>
                    <a:pt x="0" y="0"/>
                  </a:moveTo>
                  <a:lnTo>
                    <a:pt x="16383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655320" y="632460"/>
              <a:ext cx="163830" cy="9525"/>
            </a:xfrm>
            <a:custGeom>
              <a:avLst/>
              <a:gdLst/>
              <a:ahLst/>
              <a:cxnLst/>
              <a:rect l="l" t="t" r="r" b="b"/>
              <a:pathLst>
                <a:path w="163830" h="9525">
                  <a:moveTo>
                    <a:pt x="0" y="0"/>
                  </a:moveTo>
                  <a:lnTo>
                    <a:pt x="16383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5" name="Freeform 5"/>
            <p:cNvSpPr/>
            <p:nvPr/>
          </p:nvSpPr>
          <p:spPr>
            <a:xfrm>
              <a:off x="605790" y="476250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575" y="14288"/>
                  </a:moveTo>
                  <a:lnTo>
                    <a:pt x="27622" y="18097"/>
                  </a:lnTo>
                  <a:lnTo>
                    <a:pt x="26670" y="20955"/>
                  </a:lnTo>
                  <a:lnTo>
                    <a:pt x="23812" y="24765"/>
                  </a:lnTo>
                  <a:lnTo>
                    <a:pt x="20955" y="26670"/>
                  </a:lnTo>
                  <a:lnTo>
                    <a:pt x="18097" y="27622"/>
                  </a:lnTo>
                  <a:lnTo>
                    <a:pt x="14287" y="28575"/>
                  </a:lnTo>
                  <a:lnTo>
                    <a:pt x="10478" y="27622"/>
                  </a:lnTo>
                  <a:lnTo>
                    <a:pt x="6667" y="26670"/>
                  </a:lnTo>
                  <a:lnTo>
                    <a:pt x="3810" y="24765"/>
                  </a:lnTo>
                  <a:lnTo>
                    <a:pt x="1905" y="20955"/>
                  </a:lnTo>
                  <a:lnTo>
                    <a:pt x="0" y="18097"/>
                  </a:lnTo>
                  <a:lnTo>
                    <a:pt x="0" y="14288"/>
                  </a:lnTo>
                  <a:lnTo>
                    <a:pt x="0" y="10477"/>
                  </a:lnTo>
                  <a:lnTo>
                    <a:pt x="1905" y="7620"/>
                  </a:lnTo>
                  <a:lnTo>
                    <a:pt x="3810" y="3810"/>
                  </a:lnTo>
                  <a:lnTo>
                    <a:pt x="6667" y="1905"/>
                  </a:lnTo>
                  <a:lnTo>
                    <a:pt x="10478" y="952"/>
                  </a:lnTo>
                  <a:lnTo>
                    <a:pt x="14287" y="0"/>
                  </a:lnTo>
                  <a:lnTo>
                    <a:pt x="18097" y="952"/>
                  </a:lnTo>
                  <a:lnTo>
                    <a:pt x="20955" y="1905"/>
                  </a:lnTo>
                  <a:lnTo>
                    <a:pt x="23812" y="3810"/>
                  </a:lnTo>
                  <a:lnTo>
                    <a:pt x="26670" y="7620"/>
                  </a:lnTo>
                  <a:lnTo>
                    <a:pt x="27622" y="10477"/>
                  </a:lnTo>
                  <a:lnTo>
                    <a:pt x="28575" y="142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6" name="Freeform 6"/>
            <p:cNvSpPr/>
            <p:nvPr/>
          </p:nvSpPr>
          <p:spPr>
            <a:xfrm>
              <a:off x="605790" y="5476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575" y="14288"/>
                  </a:moveTo>
                  <a:lnTo>
                    <a:pt x="27622" y="18097"/>
                  </a:lnTo>
                  <a:lnTo>
                    <a:pt x="26670" y="20955"/>
                  </a:lnTo>
                  <a:lnTo>
                    <a:pt x="23812" y="23812"/>
                  </a:lnTo>
                  <a:lnTo>
                    <a:pt x="20955" y="26670"/>
                  </a:lnTo>
                  <a:lnTo>
                    <a:pt x="18097" y="27622"/>
                  </a:lnTo>
                  <a:lnTo>
                    <a:pt x="14287" y="28575"/>
                  </a:lnTo>
                  <a:lnTo>
                    <a:pt x="10478" y="27622"/>
                  </a:lnTo>
                  <a:lnTo>
                    <a:pt x="6667" y="26670"/>
                  </a:lnTo>
                  <a:lnTo>
                    <a:pt x="3810" y="23812"/>
                  </a:lnTo>
                  <a:lnTo>
                    <a:pt x="1905" y="20955"/>
                  </a:lnTo>
                  <a:lnTo>
                    <a:pt x="0" y="18097"/>
                  </a:lnTo>
                  <a:lnTo>
                    <a:pt x="0" y="14288"/>
                  </a:lnTo>
                  <a:lnTo>
                    <a:pt x="0" y="10477"/>
                  </a:lnTo>
                  <a:lnTo>
                    <a:pt x="1905" y="6667"/>
                  </a:lnTo>
                  <a:lnTo>
                    <a:pt x="3810" y="3810"/>
                  </a:lnTo>
                  <a:lnTo>
                    <a:pt x="6667" y="1905"/>
                  </a:lnTo>
                  <a:lnTo>
                    <a:pt x="10478" y="0"/>
                  </a:lnTo>
                  <a:lnTo>
                    <a:pt x="14287" y="0"/>
                  </a:lnTo>
                  <a:lnTo>
                    <a:pt x="18097" y="0"/>
                  </a:lnTo>
                  <a:lnTo>
                    <a:pt x="20955" y="1905"/>
                  </a:lnTo>
                  <a:lnTo>
                    <a:pt x="23812" y="3810"/>
                  </a:lnTo>
                  <a:lnTo>
                    <a:pt x="26670" y="6667"/>
                  </a:lnTo>
                  <a:lnTo>
                    <a:pt x="27622" y="10477"/>
                  </a:lnTo>
                  <a:lnTo>
                    <a:pt x="28575" y="142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7" name="Freeform 7"/>
            <p:cNvSpPr/>
            <p:nvPr/>
          </p:nvSpPr>
          <p:spPr>
            <a:xfrm>
              <a:off x="605790" y="618172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575" y="14288"/>
                  </a:moveTo>
                  <a:lnTo>
                    <a:pt x="27622" y="18097"/>
                  </a:lnTo>
                  <a:lnTo>
                    <a:pt x="26670" y="21907"/>
                  </a:lnTo>
                  <a:lnTo>
                    <a:pt x="23812" y="24765"/>
                  </a:lnTo>
                  <a:lnTo>
                    <a:pt x="20955" y="26670"/>
                  </a:lnTo>
                  <a:lnTo>
                    <a:pt x="18097" y="28575"/>
                  </a:lnTo>
                  <a:lnTo>
                    <a:pt x="14287" y="28575"/>
                  </a:lnTo>
                  <a:lnTo>
                    <a:pt x="10478" y="28575"/>
                  </a:lnTo>
                  <a:lnTo>
                    <a:pt x="6667" y="26670"/>
                  </a:lnTo>
                  <a:lnTo>
                    <a:pt x="3810" y="24765"/>
                  </a:lnTo>
                  <a:lnTo>
                    <a:pt x="1905" y="21907"/>
                  </a:lnTo>
                  <a:lnTo>
                    <a:pt x="0" y="18097"/>
                  </a:lnTo>
                  <a:lnTo>
                    <a:pt x="0" y="14288"/>
                  </a:lnTo>
                  <a:lnTo>
                    <a:pt x="0" y="10477"/>
                  </a:lnTo>
                  <a:lnTo>
                    <a:pt x="1905" y="7620"/>
                  </a:lnTo>
                  <a:lnTo>
                    <a:pt x="3810" y="4762"/>
                  </a:lnTo>
                  <a:lnTo>
                    <a:pt x="6667" y="1905"/>
                  </a:lnTo>
                  <a:lnTo>
                    <a:pt x="10478" y="952"/>
                  </a:lnTo>
                  <a:lnTo>
                    <a:pt x="14287" y="0"/>
                  </a:lnTo>
                  <a:lnTo>
                    <a:pt x="18097" y="952"/>
                  </a:lnTo>
                  <a:lnTo>
                    <a:pt x="20955" y="1905"/>
                  </a:lnTo>
                  <a:lnTo>
                    <a:pt x="23812" y="4762"/>
                  </a:lnTo>
                  <a:lnTo>
                    <a:pt x="26670" y="7620"/>
                  </a:lnTo>
                  <a:lnTo>
                    <a:pt x="27622" y="10477"/>
                  </a:lnTo>
                  <a:lnTo>
                    <a:pt x="28575" y="142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083069" y="369522"/>
            <a:ext cx="819281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目录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12787" y="1632633"/>
            <a:ext cx="331706" cy="3916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6365" y="1556337"/>
            <a:ext cx="876452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市场机会</a:t>
            </a:r>
          </a:p>
        </p:txBody>
      </p:sp>
      <p:sp>
        <p:nvSpPr>
          <p:cNvPr id="13" name="Line 13"/>
          <p:cNvSpPr/>
          <p:nvPr/>
        </p:nvSpPr>
        <p:spPr>
          <a:xfrm>
            <a:off x="822960" y="2276475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12787" y="2409873"/>
            <a:ext cx="331706" cy="3916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6365" y="2333577"/>
            <a:ext cx="876452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产品矩阵</a:t>
            </a:r>
          </a:p>
        </p:txBody>
      </p:sp>
      <p:sp>
        <p:nvSpPr>
          <p:cNvPr id="16" name="Line 16"/>
          <p:cNvSpPr/>
          <p:nvPr/>
        </p:nvSpPr>
        <p:spPr>
          <a:xfrm>
            <a:off x="822960" y="3053715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12787" y="3187113"/>
            <a:ext cx="331706" cy="3916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46365" y="3110817"/>
            <a:ext cx="876452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商业模式</a:t>
            </a:r>
          </a:p>
        </p:txBody>
      </p:sp>
      <p:sp>
        <p:nvSpPr>
          <p:cNvPr id="19" name="Line 19"/>
          <p:cNvSpPr/>
          <p:nvPr/>
        </p:nvSpPr>
        <p:spPr>
          <a:xfrm>
            <a:off x="822960" y="3830955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12787" y="3964353"/>
            <a:ext cx="331706" cy="3916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6365" y="3888057"/>
            <a:ext cx="876452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增长路线</a:t>
            </a:r>
          </a:p>
        </p:txBody>
      </p:sp>
      <p:sp>
        <p:nvSpPr>
          <p:cNvPr id="22" name="Line 22"/>
          <p:cNvSpPr/>
          <p:nvPr/>
        </p:nvSpPr>
        <p:spPr>
          <a:xfrm>
            <a:off x="822960" y="4608195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12787" y="4741593"/>
            <a:ext cx="331706" cy="3916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6365" y="4665297"/>
            <a:ext cx="1091508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团队与融资</a:t>
            </a:r>
          </a:p>
        </p:txBody>
      </p:sp>
      <p:sp>
        <p:nvSpPr>
          <p:cNvPr id="25" name="Line 25"/>
          <p:cNvSpPr/>
          <p:nvPr/>
        </p:nvSpPr>
        <p:spPr>
          <a:xfrm>
            <a:off x="822960" y="5385435"/>
            <a:ext cx="10424160" cy="9525"/>
          </a:xfrm>
          <a:custGeom>
            <a:avLst/>
            <a:gdLst/>
            <a:ahLst/>
            <a:cxnLst/>
            <a:rect l="l" t="t" r="r" b="b"/>
            <a:pathLst>
              <a:path w="10424160" h="9525">
                <a:moveTo>
                  <a:pt x="0" y="0"/>
                </a:moveTo>
                <a:lnTo>
                  <a:pt x="10424160" y="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75721" y="6447472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834640"/>
            <a:ext cx="381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23900" y="3104198"/>
            <a:ext cx="233362" cy="374333"/>
          </a:xfrm>
          <a:custGeom>
            <a:avLst/>
            <a:gdLst/>
            <a:ahLst/>
            <a:cxnLst/>
            <a:rect l="l" t="t" r="r" b="b"/>
            <a:pathLst>
              <a:path w="233362" h="374333">
                <a:moveTo>
                  <a:pt x="0" y="0"/>
                </a:moveTo>
                <a:lnTo>
                  <a:pt x="233362" y="0"/>
                </a:lnTo>
                <a:lnTo>
                  <a:pt x="233362" y="374333"/>
                </a:lnTo>
                <a:lnTo>
                  <a:pt x="117157" y="280988"/>
                </a:lnTo>
                <a:lnTo>
                  <a:pt x="0" y="374333"/>
                </a:lnTo>
                <a:lnTo>
                  <a:pt x="0" y="0"/>
                </a:lnTo>
                <a:close/>
              </a:path>
            </a:pathLst>
          </a:custGeom>
          <a:noFill/>
          <a:ln w="35242" cap="rnd">
            <a:solidFill>
              <a:schemeClr val="accent1"/>
            </a:solidFill>
            <a:round/>
          </a:ln>
        </p:spPr>
      </p:sp>
      <p:sp>
        <p:nvSpPr>
          <p:cNvPr id="5" name="TextBox 5"/>
          <p:cNvSpPr txBox="1"/>
          <p:nvPr/>
        </p:nvSpPr>
        <p:spPr>
          <a:xfrm>
            <a:off x="1537221" y="2976515"/>
            <a:ext cx="2627815" cy="664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 市场机会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7355" y="3933873"/>
            <a:ext cx="1713490" cy="2743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企业智能体需求爆发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split orient="horz" dir="ou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605790" y="476250"/>
            <a:ext cx="213360" cy="170497"/>
            <a:chOff x="605790" y="476250"/>
            <a:chExt cx="213360" cy="170497"/>
          </a:xfrm>
        </p:grpSpPr>
        <p:sp>
          <p:nvSpPr>
            <p:cNvPr id="2" name="Freeform 2"/>
            <p:cNvSpPr/>
            <p:nvPr/>
          </p:nvSpPr>
          <p:spPr>
            <a:xfrm>
              <a:off x="655320" y="490538"/>
              <a:ext cx="163830" cy="9525"/>
            </a:xfrm>
            <a:custGeom>
              <a:avLst/>
              <a:gdLst/>
              <a:ahLst/>
              <a:cxnLst/>
              <a:rect l="l" t="t" r="r" b="b"/>
              <a:pathLst>
                <a:path w="163830" h="9525">
                  <a:moveTo>
                    <a:pt x="0" y="0"/>
                  </a:moveTo>
                  <a:lnTo>
                    <a:pt x="16383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655320" y="561975"/>
              <a:ext cx="163830" cy="9525"/>
            </a:xfrm>
            <a:custGeom>
              <a:avLst/>
              <a:gdLst/>
              <a:ahLst/>
              <a:cxnLst/>
              <a:rect l="l" t="t" r="r" b="b"/>
              <a:pathLst>
                <a:path w="163830" h="9525">
                  <a:moveTo>
                    <a:pt x="0" y="0"/>
                  </a:moveTo>
                  <a:lnTo>
                    <a:pt x="16383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655320" y="632460"/>
              <a:ext cx="163830" cy="9525"/>
            </a:xfrm>
            <a:custGeom>
              <a:avLst/>
              <a:gdLst/>
              <a:ahLst/>
              <a:cxnLst/>
              <a:rect l="l" t="t" r="r" b="b"/>
              <a:pathLst>
                <a:path w="163830" h="9525">
                  <a:moveTo>
                    <a:pt x="0" y="0"/>
                  </a:moveTo>
                  <a:lnTo>
                    <a:pt x="16383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5" name="Freeform 5"/>
            <p:cNvSpPr/>
            <p:nvPr/>
          </p:nvSpPr>
          <p:spPr>
            <a:xfrm>
              <a:off x="605790" y="476250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575" y="14288"/>
                  </a:moveTo>
                  <a:lnTo>
                    <a:pt x="27622" y="18097"/>
                  </a:lnTo>
                  <a:lnTo>
                    <a:pt x="26670" y="20955"/>
                  </a:lnTo>
                  <a:lnTo>
                    <a:pt x="23812" y="24765"/>
                  </a:lnTo>
                  <a:lnTo>
                    <a:pt x="20955" y="26670"/>
                  </a:lnTo>
                  <a:lnTo>
                    <a:pt x="18097" y="27622"/>
                  </a:lnTo>
                  <a:lnTo>
                    <a:pt x="14287" y="28575"/>
                  </a:lnTo>
                  <a:lnTo>
                    <a:pt x="10478" y="27622"/>
                  </a:lnTo>
                  <a:lnTo>
                    <a:pt x="6667" y="26670"/>
                  </a:lnTo>
                  <a:lnTo>
                    <a:pt x="3810" y="24765"/>
                  </a:lnTo>
                  <a:lnTo>
                    <a:pt x="1905" y="20955"/>
                  </a:lnTo>
                  <a:lnTo>
                    <a:pt x="0" y="18097"/>
                  </a:lnTo>
                  <a:lnTo>
                    <a:pt x="0" y="14288"/>
                  </a:lnTo>
                  <a:lnTo>
                    <a:pt x="0" y="10477"/>
                  </a:lnTo>
                  <a:lnTo>
                    <a:pt x="1905" y="7620"/>
                  </a:lnTo>
                  <a:lnTo>
                    <a:pt x="3810" y="3810"/>
                  </a:lnTo>
                  <a:lnTo>
                    <a:pt x="6667" y="1905"/>
                  </a:lnTo>
                  <a:lnTo>
                    <a:pt x="10478" y="952"/>
                  </a:lnTo>
                  <a:lnTo>
                    <a:pt x="14287" y="0"/>
                  </a:lnTo>
                  <a:lnTo>
                    <a:pt x="18097" y="952"/>
                  </a:lnTo>
                  <a:lnTo>
                    <a:pt x="20955" y="1905"/>
                  </a:lnTo>
                  <a:lnTo>
                    <a:pt x="23812" y="3810"/>
                  </a:lnTo>
                  <a:lnTo>
                    <a:pt x="26670" y="7620"/>
                  </a:lnTo>
                  <a:lnTo>
                    <a:pt x="27622" y="10477"/>
                  </a:lnTo>
                  <a:lnTo>
                    <a:pt x="28575" y="142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6" name="Freeform 6"/>
            <p:cNvSpPr/>
            <p:nvPr/>
          </p:nvSpPr>
          <p:spPr>
            <a:xfrm>
              <a:off x="605790" y="5476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575" y="14288"/>
                  </a:moveTo>
                  <a:lnTo>
                    <a:pt x="27622" y="18097"/>
                  </a:lnTo>
                  <a:lnTo>
                    <a:pt x="26670" y="20955"/>
                  </a:lnTo>
                  <a:lnTo>
                    <a:pt x="23812" y="23812"/>
                  </a:lnTo>
                  <a:lnTo>
                    <a:pt x="20955" y="26670"/>
                  </a:lnTo>
                  <a:lnTo>
                    <a:pt x="18097" y="27622"/>
                  </a:lnTo>
                  <a:lnTo>
                    <a:pt x="14287" y="28575"/>
                  </a:lnTo>
                  <a:lnTo>
                    <a:pt x="10478" y="27622"/>
                  </a:lnTo>
                  <a:lnTo>
                    <a:pt x="6667" y="26670"/>
                  </a:lnTo>
                  <a:lnTo>
                    <a:pt x="3810" y="23812"/>
                  </a:lnTo>
                  <a:lnTo>
                    <a:pt x="1905" y="20955"/>
                  </a:lnTo>
                  <a:lnTo>
                    <a:pt x="0" y="18097"/>
                  </a:lnTo>
                  <a:lnTo>
                    <a:pt x="0" y="14288"/>
                  </a:lnTo>
                  <a:lnTo>
                    <a:pt x="0" y="10477"/>
                  </a:lnTo>
                  <a:lnTo>
                    <a:pt x="1905" y="6667"/>
                  </a:lnTo>
                  <a:lnTo>
                    <a:pt x="3810" y="3810"/>
                  </a:lnTo>
                  <a:lnTo>
                    <a:pt x="6667" y="1905"/>
                  </a:lnTo>
                  <a:lnTo>
                    <a:pt x="10478" y="0"/>
                  </a:lnTo>
                  <a:lnTo>
                    <a:pt x="14287" y="0"/>
                  </a:lnTo>
                  <a:lnTo>
                    <a:pt x="18097" y="0"/>
                  </a:lnTo>
                  <a:lnTo>
                    <a:pt x="20955" y="1905"/>
                  </a:lnTo>
                  <a:lnTo>
                    <a:pt x="23812" y="3810"/>
                  </a:lnTo>
                  <a:lnTo>
                    <a:pt x="26670" y="6667"/>
                  </a:lnTo>
                  <a:lnTo>
                    <a:pt x="27622" y="10477"/>
                  </a:lnTo>
                  <a:lnTo>
                    <a:pt x="28575" y="142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7" name="Freeform 7"/>
            <p:cNvSpPr/>
            <p:nvPr/>
          </p:nvSpPr>
          <p:spPr>
            <a:xfrm>
              <a:off x="605790" y="618172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575" y="14288"/>
                  </a:moveTo>
                  <a:lnTo>
                    <a:pt x="27622" y="18097"/>
                  </a:lnTo>
                  <a:lnTo>
                    <a:pt x="26670" y="21907"/>
                  </a:lnTo>
                  <a:lnTo>
                    <a:pt x="23812" y="24765"/>
                  </a:lnTo>
                  <a:lnTo>
                    <a:pt x="20955" y="26670"/>
                  </a:lnTo>
                  <a:lnTo>
                    <a:pt x="18097" y="28575"/>
                  </a:lnTo>
                  <a:lnTo>
                    <a:pt x="14287" y="28575"/>
                  </a:lnTo>
                  <a:lnTo>
                    <a:pt x="10478" y="28575"/>
                  </a:lnTo>
                  <a:lnTo>
                    <a:pt x="6667" y="26670"/>
                  </a:lnTo>
                  <a:lnTo>
                    <a:pt x="3810" y="24765"/>
                  </a:lnTo>
                  <a:lnTo>
                    <a:pt x="1905" y="21907"/>
                  </a:lnTo>
                  <a:lnTo>
                    <a:pt x="0" y="18097"/>
                  </a:lnTo>
                  <a:lnTo>
                    <a:pt x="0" y="14288"/>
                  </a:lnTo>
                  <a:lnTo>
                    <a:pt x="0" y="10477"/>
                  </a:lnTo>
                  <a:lnTo>
                    <a:pt x="1905" y="7620"/>
                  </a:lnTo>
                  <a:lnTo>
                    <a:pt x="3810" y="4762"/>
                  </a:lnTo>
                  <a:lnTo>
                    <a:pt x="6667" y="1905"/>
                  </a:lnTo>
                  <a:lnTo>
                    <a:pt x="10478" y="952"/>
                  </a:lnTo>
                  <a:lnTo>
                    <a:pt x="14287" y="0"/>
                  </a:lnTo>
                  <a:lnTo>
                    <a:pt x="18097" y="952"/>
                  </a:lnTo>
                  <a:lnTo>
                    <a:pt x="20955" y="1905"/>
                  </a:lnTo>
                  <a:lnTo>
                    <a:pt x="23812" y="4762"/>
                  </a:lnTo>
                  <a:lnTo>
                    <a:pt x="26670" y="7620"/>
                  </a:lnTo>
                  <a:lnTo>
                    <a:pt x="27622" y="10477"/>
                  </a:lnTo>
                  <a:lnTo>
                    <a:pt x="28575" y="142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083069" y="369522"/>
            <a:ext cx="2400999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为什么是现在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22960" y="161829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9660" y="1556385"/>
            <a:ext cx="18280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企业知识孤岛严重…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1184" y="180975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80% 内部文档无法被检索调用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22960" y="2185035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89660" y="2123122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人工流程成本高…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1184" y="2376488"/>
            <a:ext cx="20638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重复性办公任务占工时 40%+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22960" y="2751772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89660" y="2689860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大模型能力成熟…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1184" y="2944177"/>
            <a:ext cx="25444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多模态 + 长上下文让 Agent 可落地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75721" y="6447472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620078" y="476250"/>
            <a:ext cx="215265" cy="180023"/>
            <a:chOff x="620078" y="476250"/>
            <a:chExt cx="215265" cy="180023"/>
          </a:xfrm>
        </p:grpSpPr>
        <p:sp>
          <p:nvSpPr>
            <p:cNvPr id="2" name="Freeform 2"/>
            <p:cNvSpPr/>
            <p:nvPr/>
          </p:nvSpPr>
          <p:spPr>
            <a:xfrm>
              <a:off x="620078" y="476250"/>
              <a:ext cx="9525" cy="170498"/>
            </a:xfrm>
            <a:custGeom>
              <a:avLst/>
              <a:gdLst/>
              <a:ahLst/>
              <a:cxnLst/>
              <a:rect l="l" t="t" r="r" b="b"/>
              <a:pathLst>
                <a:path w="9525" h="170498">
                  <a:moveTo>
                    <a:pt x="0" y="170498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620078" y="646748"/>
              <a:ext cx="213360" cy="9525"/>
            </a:xfrm>
            <a:custGeom>
              <a:avLst/>
              <a:gdLst/>
              <a:ahLst/>
              <a:cxnLst/>
              <a:rect l="l" t="t" r="r" b="b"/>
              <a:pathLst>
                <a:path w="213360" h="9525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655320" y="561975"/>
              <a:ext cx="9525" cy="84773"/>
            </a:xfrm>
            <a:custGeom>
              <a:avLst/>
              <a:gdLst/>
              <a:ahLst/>
              <a:cxnLst/>
              <a:rect l="l" t="t" r="r" b="b"/>
              <a:pathLst>
                <a:path w="9525" h="84773">
                  <a:moveTo>
                    <a:pt x="0" y="84773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5" name="Freeform 5"/>
            <p:cNvSpPr/>
            <p:nvPr/>
          </p:nvSpPr>
          <p:spPr>
            <a:xfrm>
              <a:off x="712470" y="511492"/>
              <a:ext cx="9525" cy="135255"/>
            </a:xfrm>
            <a:custGeom>
              <a:avLst/>
              <a:gdLst/>
              <a:ahLst/>
              <a:cxnLst/>
              <a:rect l="l" t="t" r="r" b="b"/>
              <a:pathLst>
                <a:path w="9525" h="135255">
                  <a:moveTo>
                    <a:pt x="0" y="135255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6" name="Freeform 6"/>
            <p:cNvSpPr/>
            <p:nvPr/>
          </p:nvSpPr>
          <p:spPr>
            <a:xfrm>
              <a:off x="768668" y="582930"/>
              <a:ext cx="9525" cy="63818"/>
            </a:xfrm>
            <a:custGeom>
              <a:avLst/>
              <a:gdLst/>
              <a:ahLst/>
              <a:cxnLst/>
              <a:rect l="l" t="t" r="r" b="b"/>
              <a:pathLst>
                <a:path w="9525" h="63818">
                  <a:moveTo>
                    <a:pt x="0" y="63818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7" name="Freeform 7"/>
            <p:cNvSpPr/>
            <p:nvPr/>
          </p:nvSpPr>
          <p:spPr>
            <a:xfrm>
              <a:off x="825818" y="490538"/>
              <a:ext cx="9525" cy="156210"/>
            </a:xfrm>
            <a:custGeom>
              <a:avLst/>
              <a:gdLst/>
              <a:ahLst/>
              <a:cxnLst/>
              <a:rect l="l" t="t" r="r" b="b"/>
              <a:pathLst>
                <a:path w="9525" h="156210">
                  <a:moveTo>
                    <a:pt x="0" y="15621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083069" y="369522"/>
            <a:ext cx="3350030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市场规模 (亿美元)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16864" y="2054543"/>
            <a:ext cx="3675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2024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286000" y="1928812"/>
            <a:ext cx="1062990" cy="623888"/>
          </a:xfrm>
          <a:prstGeom prst="roundRect">
            <a:avLst>
              <a:gd name="adj" fmla="val 305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434829" y="2042208"/>
            <a:ext cx="256092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6864" y="3060382"/>
            <a:ext cx="3675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2025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286000" y="2934652"/>
            <a:ext cx="2480310" cy="623888"/>
          </a:xfrm>
          <a:prstGeom prst="roundRect">
            <a:avLst>
              <a:gd name="adj" fmla="val 305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852149" y="3048048"/>
            <a:ext cx="256092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280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6864" y="4066222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2026E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86000" y="3940492"/>
            <a:ext cx="4783455" cy="623888"/>
          </a:xfrm>
          <a:prstGeom prst="roundRect">
            <a:avLst>
              <a:gd name="adj" fmla="val 305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155294" y="4053888"/>
            <a:ext cx="256092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540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864" y="5072062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2027E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286000" y="4946332"/>
            <a:ext cx="8503920" cy="623888"/>
          </a:xfrm>
          <a:prstGeom prst="roundRect">
            <a:avLst>
              <a:gd name="adj" fmla="val 3053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875759" y="5059728"/>
            <a:ext cx="256092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960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75721" y="6447472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834640"/>
            <a:ext cx="12192000" cy="1188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834640"/>
            <a:ext cx="381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723900" y="3104198"/>
            <a:ext cx="233362" cy="374333"/>
          </a:xfrm>
          <a:custGeom>
            <a:avLst/>
            <a:gdLst/>
            <a:ahLst/>
            <a:cxnLst/>
            <a:rect l="l" t="t" r="r" b="b"/>
            <a:pathLst>
              <a:path w="233362" h="374333">
                <a:moveTo>
                  <a:pt x="0" y="0"/>
                </a:moveTo>
                <a:lnTo>
                  <a:pt x="233362" y="0"/>
                </a:lnTo>
                <a:lnTo>
                  <a:pt x="233362" y="374333"/>
                </a:lnTo>
                <a:lnTo>
                  <a:pt x="117157" y="280988"/>
                </a:lnTo>
                <a:lnTo>
                  <a:pt x="0" y="374333"/>
                </a:lnTo>
                <a:lnTo>
                  <a:pt x="0" y="0"/>
                </a:lnTo>
                <a:close/>
              </a:path>
            </a:pathLst>
          </a:custGeom>
          <a:noFill/>
          <a:ln w="35242" cap="rnd">
            <a:solidFill>
              <a:schemeClr val="accent1"/>
            </a:solidFill>
            <a:round/>
          </a:ln>
        </p:spPr>
      </p:sp>
      <p:sp>
        <p:nvSpPr>
          <p:cNvPr id="5" name="TextBox 5"/>
          <p:cNvSpPr txBox="1"/>
          <p:nvPr/>
        </p:nvSpPr>
        <p:spPr>
          <a:xfrm>
            <a:off x="1537221" y="2976515"/>
            <a:ext cx="2627815" cy="664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 产品矩阵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7355" y="3933873"/>
            <a:ext cx="1335881" cy="2743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四层一体化平台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34365" y="469582"/>
            <a:ext cx="184785" cy="184785"/>
            <a:chOff x="634365" y="469582"/>
            <a:chExt cx="184785" cy="184785"/>
          </a:xfrm>
        </p:grpSpPr>
        <p:sp>
          <p:nvSpPr>
            <p:cNvPr id="2" name="Freeform 2"/>
            <p:cNvSpPr/>
            <p:nvPr/>
          </p:nvSpPr>
          <p:spPr>
            <a:xfrm>
              <a:off x="634365" y="469582"/>
              <a:ext cx="78105" cy="184785"/>
            </a:xfrm>
            <a:custGeom>
              <a:avLst/>
              <a:gdLst/>
              <a:ahLst/>
              <a:cxnLst/>
              <a:rect l="l" t="t" r="r" b="b"/>
              <a:pathLst>
                <a:path w="78105" h="184785">
                  <a:moveTo>
                    <a:pt x="0" y="0"/>
                  </a:moveTo>
                  <a:lnTo>
                    <a:pt x="78105" y="0"/>
                  </a:lnTo>
                  <a:lnTo>
                    <a:pt x="78105" y="184785"/>
                  </a:lnTo>
                  <a:lnTo>
                    <a:pt x="0" y="18478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741045" y="469582"/>
              <a:ext cx="78105" cy="184785"/>
            </a:xfrm>
            <a:custGeom>
              <a:avLst/>
              <a:gdLst/>
              <a:ahLst/>
              <a:cxnLst/>
              <a:rect l="l" t="t" r="r" b="b"/>
              <a:pathLst>
                <a:path w="78105" h="184785">
                  <a:moveTo>
                    <a:pt x="0" y="0"/>
                  </a:moveTo>
                  <a:lnTo>
                    <a:pt x="78105" y="0"/>
                  </a:lnTo>
                  <a:lnTo>
                    <a:pt x="78105" y="184785"/>
                  </a:lnTo>
                  <a:lnTo>
                    <a:pt x="0" y="18478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083069" y="369522"/>
            <a:ext cx="1610140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产品矩阵</a:t>
            </a:r>
          </a:p>
        </p:txBody>
      </p:sp>
      <p:sp>
        <p:nvSpPr>
          <p:cNvPr id="6" name="Rectangle 6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217920" y="1554480"/>
            <a:ext cx="5394960" cy="43891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14845" y="1739217"/>
            <a:ext cx="693655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能力层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84125" y="1739217"/>
            <a:ext cx="693655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交付层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22960" y="234981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9660" y="228790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知识中枢 RAG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22960" y="289845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89660" y="283654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多模型调度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22960" y="344709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89660" y="3385185"/>
            <a:ext cx="13930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MCP 插件市场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22960" y="399573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89660" y="39338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技能编排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92240" y="234981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758940" y="2287905"/>
            <a:ext cx="9449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对话框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92240" y="289845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58940" y="28365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学习中心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92240" y="344709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58940" y="338518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创作工坊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92240" y="399573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58940" y="3933825"/>
            <a:ext cx="12473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企业版 RBAC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75721" y="6447472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5790" y="441008"/>
            <a:ext cx="241935" cy="241935"/>
            <a:chOff x="605790" y="441008"/>
            <a:chExt cx="241935" cy="241935"/>
          </a:xfrm>
        </p:grpSpPr>
        <p:sp>
          <p:nvSpPr>
            <p:cNvPr id="2" name="Freeform 2"/>
            <p:cNvSpPr/>
            <p:nvPr/>
          </p:nvSpPr>
          <p:spPr>
            <a:xfrm>
              <a:off x="605790" y="441008"/>
              <a:ext cx="241935" cy="241935"/>
            </a:xfrm>
            <a:custGeom>
              <a:avLst/>
              <a:gdLst/>
              <a:ahLst/>
              <a:cxnLst/>
              <a:rect l="l" t="t" r="r" b="b"/>
              <a:pathLst>
                <a:path w="241935" h="241935">
                  <a:moveTo>
                    <a:pt x="241935" y="120968"/>
                  </a:moveTo>
                  <a:lnTo>
                    <a:pt x="237172" y="152400"/>
                  </a:lnTo>
                  <a:lnTo>
                    <a:pt x="225742" y="180975"/>
                  </a:lnTo>
                  <a:lnTo>
                    <a:pt x="205740" y="205740"/>
                  </a:lnTo>
                  <a:lnTo>
                    <a:pt x="180975" y="225743"/>
                  </a:lnTo>
                  <a:lnTo>
                    <a:pt x="152400" y="237172"/>
                  </a:lnTo>
                  <a:lnTo>
                    <a:pt x="120967" y="241935"/>
                  </a:lnTo>
                  <a:lnTo>
                    <a:pt x="89535" y="237172"/>
                  </a:lnTo>
                  <a:lnTo>
                    <a:pt x="60008" y="225743"/>
                  </a:lnTo>
                  <a:lnTo>
                    <a:pt x="35242" y="205740"/>
                  </a:lnTo>
                  <a:lnTo>
                    <a:pt x="16192" y="180975"/>
                  </a:lnTo>
                  <a:lnTo>
                    <a:pt x="3810" y="152400"/>
                  </a:lnTo>
                  <a:lnTo>
                    <a:pt x="0" y="120968"/>
                  </a:lnTo>
                  <a:lnTo>
                    <a:pt x="3810" y="89535"/>
                  </a:lnTo>
                  <a:lnTo>
                    <a:pt x="16192" y="60007"/>
                  </a:lnTo>
                  <a:lnTo>
                    <a:pt x="35242" y="35243"/>
                  </a:lnTo>
                  <a:lnTo>
                    <a:pt x="60008" y="16193"/>
                  </a:lnTo>
                  <a:lnTo>
                    <a:pt x="89535" y="3810"/>
                  </a:lnTo>
                  <a:lnTo>
                    <a:pt x="120967" y="0"/>
                  </a:lnTo>
                  <a:lnTo>
                    <a:pt x="152400" y="3810"/>
                  </a:lnTo>
                  <a:lnTo>
                    <a:pt x="180975" y="16193"/>
                  </a:lnTo>
                  <a:lnTo>
                    <a:pt x="205740" y="35243"/>
                  </a:lnTo>
                  <a:lnTo>
                    <a:pt x="225742" y="60007"/>
                  </a:lnTo>
                  <a:lnTo>
                    <a:pt x="237172" y="89535"/>
                  </a:lnTo>
                  <a:lnTo>
                    <a:pt x="241935" y="12096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726758" y="47625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85725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726758" y="561975"/>
              <a:ext cx="70485" cy="9525"/>
            </a:xfrm>
            <a:custGeom>
              <a:avLst/>
              <a:gdLst/>
              <a:ahLst/>
              <a:cxnLst/>
              <a:rect l="l" t="t" r="r" b="b"/>
              <a:pathLst>
                <a:path w="70485" h="9525">
                  <a:moveTo>
                    <a:pt x="0" y="0"/>
                  </a:moveTo>
                  <a:lnTo>
                    <a:pt x="70485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83069" y="369522"/>
            <a:ext cx="1610140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增长路线</a:t>
            </a:r>
          </a:p>
        </p:txBody>
      </p:sp>
      <p:sp>
        <p:nvSpPr>
          <p:cNvPr id="7" name="Rectangle 7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914400" y="3657600"/>
            <a:ext cx="10332720" cy="9525"/>
          </a:xfrm>
          <a:custGeom>
            <a:avLst/>
            <a:gdLst/>
            <a:ahLst/>
            <a:cxnLst/>
            <a:rect l="l" t="t" r="r" b="b"/>
            <a:pathLst>
              <a:path w="10332720" h="9525">
                <a:moveTo>
                  <a:pt x="0" y="0"/>
                </a:moveTo>
                <a:lnTo>
                  <a:pt x="10332720" y="0"/>
                </a:lnTo>
              </a:path>
            </a:pathLst>
          </a:custGeom>
          <a:noFill/>
          <a:ln w="19050">
            <a:solidFill>
              <a:srgbClr val="30363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155508" y="3607118"/>
            <a:ext cx="101918" cy="1019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84499" y="2699337"/>
            <a:ext cx="642981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P1 MVP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2713" y="3795760"/>
            <a:ext cx="1226553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知识库+对话+RAG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738688" y="3607118"/>
            <a:ext cx="101918" cy="1019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453146" y="2699337"/>
            <a:ext cx="672049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P2 生态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81747" y="3795760"/>
            <a:ext cx="1014847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学习路径+MCP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321868" y="3607118"/>
            <a:ext cx="101918" cy="1019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36326" y="2699337"/>
            <a:ext cx="672049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P3 企业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80679" y="3795760"/>
            <a:ext cx="983343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知识图谱+沙盒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905048" y="3607118"/>
            <a:ext cx="101918" cy="1019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619506" y="2699337"/>
            <a:ext cx="672049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P4 桌面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70930" y="3795760"/>
            <a:ext cx="769200" cy="2156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Tauri+出海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75721" y="6447472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20078" y="483870"/>
            <a:ext cx="213360" cy="156210"/>
            <a:chOff x="620078" y="483870"/>
            <a:chExt cx="213360" cy="156210"/>
          </a:xfrm>
        </p:grpSpPr>
        <p:sp>
          <p:nvSpPr>
            <p:cNvPr id="2" name="Freeform 2"/>
            <p:cNvSpPr/>
            <p:nvPr/>
          </p:nvSpPr>
          <p:spPr>
            <a:xfrm>
              <a:off x="620078" y="483870"/>
              <a:ext cx="213360" cy="156210"/>
            </a:xfrm>
            <a:custGeom>
              <a:avLst/>
              <a:gdLst/>
              <a:ahLst/>
              <a:cxnLst/>
              <a:rect l="l" t="t" r="r" b="b"/>
              <a:pathLst>
                <a:path w="213360" h="156210">
                  <a:moveTo>
                    <a:pt x="0" y="0"/>
                  </a:moveTo>
                  <a:lnTo>
                    <a:pt x="213360" y="0"/>
                  </a:lnTo>
                  <a:lnTo>
                    <a:pt x="213360" y="156210"/>
                  </a:lnTo>
                  <a:lnTo>
                    <a:pt x="0" y="15621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620078" y="554355"/>
              <a:ext cx="213360" cy="9525"/>
            </a:xfrm>
            <a:custGeom>
              <a:avLst/>
              <a:gdLst/>
              <a:ahLst/>
              <a:cxnLst/>
              <a:rect l="l" t="t" r="r" b="b"/>
              <a:pathLst>
                <a:path w="213360" h="9525">
                  <a:moveTo>
                    <a:pt x="0" y="0"/>
                  </a:moveTo>
                  <a:lnTo>
                    <a:pt x="21336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704850" y="483870"/>
              <a:ext cx="9525" cy="156210"/>
            </a:xfrm>
            <a:custGeom>
              <a:avLst/>
              <a:gdLst/>
              <a:ahLst/>
              <a:cxnLst/>
              <a:rect l="l" t="t" r="r" b="b"/>
              <a:pathLst>
                <a:path w="9525" h="156210">
                  <a:moveTo>
                    <a:pt x="0" y="0"/>
                  </a:moveTo>
                  <a:lnTo>
                    <a:pt x="0" y="15621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5" name="Freeform 5"/>
            <p:cNvSpPr/>
            <p:nvPr/>
          </p:nvSpPr>
          <p:spPr>
            <a:xfrm>
              <a:off x="768668" y="483870"/>
              <a:ext cx="9525" cy="156210"/>
            </a:xfrm>
            <a:custGeom>
              <a:avLst/>
              <a:gdLst/>
              <a:ahLst/>
              <a:cxnLst/>
              <a:rect l="l" t="t" r="r" b="b"/>
              <a:pathLst>
                <a:path w="9525" h="156210">
                  <a:moveTo>
                    <a:pt x="0" y="0"/>
                  </a:moveTo>
                  <a:lnTo>
                    <a:pt x="0" y="15621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83069" y="369522"/>
            <a:ext cx="2400999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商业模式对比</a:t>
            </a:r>
          </a:p>
        </p:txBody>
      </p:sp>
      <p:sp>
        <p:nvSpPr>
          <p:cNvPr id="8" name="Rectangle 8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48640" y="1554480"/>
            <a:ext cx="27660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33489" y="1687782"/>
            <a:ext cx="379988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层级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14700" y="1554480"/>
            <a:ext cx="27660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399549" y="1687782"/>
            <a:ext cx="379988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对象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80760" y="1554480"/>
            <a:ext cx="27660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165609" y="1687782"/>
            <a:ext cx="439508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ARPU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46820" y="1554480"/>
            <a:ext cx="27660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931669" y="1687782"/>
            <a:ext cx="379988" cy="2537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毛利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48640" y="265176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3984" y="2785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免费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314700" y="265176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400044" y="27851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个人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80760" y="265176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166104" y="278511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846820" y="265176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932164" y="278511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-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48640" y="3749040"/>
            <a:ext cx="276606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3984" y="388239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会员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314700" y="3749040"/>
            <a:ext cx="276606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400044" y="388239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专业用户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080760" y="3749040"/>
            <a:ext cx="276606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166104" y="3882390"/>
            <a:ext cx="5291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¥99/月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846820" y="3749040"/>
            <a:ext cx="276606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932164" y="3882390"/>
            <a:ext cx="3110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85%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48640" y="484632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3984" y="497967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企业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314700" y="484632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400044" y="497967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团队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80760" y="484632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166104" y="497967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¥1999/席/年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846820" y="4846320"/>
            <a:ext cx="2766060" cy="109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932164" y="4979670"/>
            <a:ext cx="3110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75721" y="6447472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69645" y="1701165"/>
            <a:ext cx="316230" cy="194310"/>
            <a:chOff x="969645" y="1701165"/>
            <a:chExt cx="316230" cy="194310"/>
          </a:xfrm>
        </p:grpSpPr>
        <p:sp>
          <p:nvSpPr>
            <p:cNvPr id="2" name="Freeform 2"/>
            <p:cNvSpPr/>
            <p:nvPr/>
          </p:nvSpPr>
          <p:spPr>
            <a:xfrm>
              <a:off x="969645" y="1701165"/>
              <a:ext cx="121920" cy="194310"/>
            </a:xfrm>
            <a:custGeom>
              <a:avLst/>
              <a:gdLst/>
              <a:ahLst/>
              <a:cxnLst/>
              <a:rect l="l" t="t" r="r" b="b"/>
              <a:pathLst>
                <a:path w="121920" h="194310">
                  <a:moveTo>
                    <a:pt x="0" y="0"/>
                  </a:moveTo>
                  <a:lnTo>
                    <a:pt x="0" y="194310"/>
                  </a:lnTo>
                  <a:lnTo>
                    <a:pt x="121920" y="194310"/>
                  </a:lnTo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1163955" y="1701165"/>
              <a:ext cx="121920" cy="194310"/>
            </a:xfrm>
            <a:custGeom>
              <a:avLst/>
              <a:gdLst/>
              <a:ahLst/>
              <a:cxnLst/>
              <a:rect l="l" t="t" r="r" b="b"/>
              <a:pathLst>
                <a:path w="121920" h="194310">
                  <a:moveTo>
                    <a:pt x="0" y="0"/>
                  </a:moveTo>
                  <a:lnTo>
                    <a:pt x="0" y="194310"/>
                  </a:lnTo>
                  <a:lnTo>
                    <a:pt x="121920" y="194310"/>
                  </a:lnTo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078230" y="1569720"/>
            <a:ext cx="971017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8379" y="2106025"/>
            <a:ext cx="8707153" cy="508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让每个企业都有自己的 AI 员工，从一份知识库开始。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3980" y="4756785"/>
            <a:ext cx="175052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— Reasonix AI 使命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09084" y="6447472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8170" y="433388"/>
            <a:ext cx="256222" cy="256223"/>
            <a:chOff x="598170" y="433388"/>
            <a:chExt cx="256222" cy="256223"/>
          </a:xfrm>
        </p:grpSpPr>
        <p:sp>
          <p:nvSpPr>
            <p:cNvPr id="2" name="Freeform 2"/>
            <p:cNvSpPr/>
            <p:nvPr/>
          </p:nvSpPr>
          <p:spPr>
            <a:xfrm>
              <a:off x="598170" y="433388"/>
              <a:ext cx="256222" cy="256223"/>
            </a:xfrm>
            <a:custGeom>
              <a:avLst/>
              <a:gdLst/>
              <a:ahLst/>
              <a:cxnLst/>
              <a:rect l="l" t="t" r="r" b="b"/>
              <a:pathLst>
                <a:path w="256222" h="256223">
                  <a:moveTo>
                    <a:pt x="256222" y="128588"/>
                  </a:moveTo>
                  <a:lnTo>
                    <a:pt x="251460" y="160972"/>
                  </a:lnTo>
                  <a:lnTo>
                    <a:pt x="239078" y="192405"/>
                  </a:lnTo>
                  <a:lnTo>
                    <a:pt x="219075" y="219075"/>
                  </a:lnTo>
                  <a:lnTo>
                    <a:pt x="192405" y="239077"/>
                  </a:lnTo>
                  <a:lnTo>
                    <a:pt x="160972" y="251460"/>
                  </a:lnTo>
                  <a:lnTo>
                    <a:pt x="128587" y="256223"/>
                  </a:lnTo>
                  <a:lnTo>
                    <a:pt x="95250" y="251460"/>
                  </a:lnTo>
                  <a:lnTo>
                    <a:pt x="63817" y="239077"/>
                  </a:lnTo>
                  <a:lnTo>
                    <a:pt x="38100" y="219075"/>
                  </a:lnTo>
                  <a:lnTo>
                    <a:pt x="17145" y="192405"/>
                  </a:lnTo>
                  <a:lnTo>
                    <a:pt x="4762" y="160972"/>
                  </a:lnTo>
                  <a:lnTo>
                    <a:pt x="0" y="128588"/>
                  </a:lnTo>
                  <a:lnTo>
                    <a:pt x="4762" y="95250"/>
                  </a:lnTo>
                  <a:lnTo>
                    <a:pt x="17145" y="63817"/>
                  </a:lnTo>
                  <a:lnTo>
                    <a:pt x="38100" y="38100"/>
                  </a:lnTo>
                  <a:lnTo>
                    <a:pt x="63817" y="17145"/>
                  </a:lnTo>
                  <a:lnTo>
                    <a:pt x="95250" y="4762"/>
                  </a:lnTo>
                  <a:lnTo>
                    <a:pt x="128587" y="0"/>
                  </a:lnTo>
                  <a:lnTo>
                    <a:pt x="160972" y="4762"/>
                  </a:lnTo>
                  <a:lnTo>
                    <a:pt x="192405" y="17145"/>
                  </a:lnTo>
                  <a:lnTo>
                    <a:pt x="219075" y="38100"/>
                  </a:lnTo>
                  <a:lnTo>
                    <a:pt x="239078" y="63817"/>
                  </a:lnTo>
                  <a:lnTo>
                    <a:pt x="251460" y="95250"/>
                  </a:lnTo>
                  <a:lnTo>
                    <a:pt x="256222" y="128588"/>
                  </a:lnTo>
                  <a:close/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661988" y="511492"/>
              <a:ext cx="135255" cy="106680"/>
            </a:xfrm>
            <a:custGeom>
              <a:avLst/>
              <a:gdLst/>
              <a:ahLst/>
              <a:cxnLst/>
              <a:rect l="l" t="t" r="r" b="b"/>
              <a:pathLst>
                <a:path w="135255" h="106680">
                  <a:moveTo>
                    <a:pt x="0" y="57150"/>
                  </a:moveTo>
                  <a:lnTo>
                    <a:pt x="50482" y="106680"/>
                  </a:lnTo>
                  <a:lnTo>
                    <a:pt x="135255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083069" y="369522"/>
            <a:ext cx="819281" cy="5471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总结</a:t>
            </a:r>
          </a:p>
        </p:txBody>
      </p:sp>
      <p:sp>
        <p:nvSpPr>
          <p:cNvPr id="6" name="Rectangle 6"/>
          <p:cNvSpPr/>
          <p:nvPr/>
        </p:nvSpPr>
        <p:spPr>
          <a:xfrm>
            <a:off x="1097280" y="1023938"/>
            <a:ext cx="201168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822960" y="1618298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89660" y="1556385"/>
            <a:ext cx="2983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市场窗口已打开，先发优势关键</a:t>
            </a:r>
          </a:p>
        </p:txBody>
      </p:sp>
      <p:sp>
        <p:nvSpPr>
          <p:cNvPr id="9" name="Rectangle 9"/>
          <p:cNvSpPr/>
          <p:nvPr/>
        </p:nvSpPr>
        <p:spPr>
          <a:xfrm>
            <a:off x="822960" y="2221230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89660" y="2160270"/>
            <a:ext cx="34092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知识中枢是壁垒，MCP 生态是杠杆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22960" y="2825115"/>
            <a:ext cx="63818" cy="638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9660" y="2763202"/>
            <a:ext cx="2983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三层变现，企业版是高毛利引擎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98220" y="5534025"/>
            <a:ext cx="57611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本轮融资用于模型日历与海外合规，18 个月做到 10 万付费。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09084" y="6447472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strips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13120" y="1463040"/>
            <a:ext cx="365760" cy="243840"/>
            <a:chOff x="5913120" y="1463040"/>
            <a:chExt cx="365760" cy="243840"/>
          </a:xfrm>
        </p:grpSpPr>
        <p:sp>
          <p:nvSpPr>
            <p:cNvPr id="2" name="Freeform 2"/>
            <p:cNvSpPr/>
            <p:nvPr/>
          </p:nvSpPr>
          <p:spPr>
            <a:xfrm>
              <a:off x="5913120" y="1463040"/>
              <a:ext cx="365760" cy="243840"/>
            </a:xfrm>
            <a:custGeom>
              <a:avLst/>
              <a:gdLst/>
              <a:ahLst/>
              <a:cxnLst/>
              <a:rect l="l" t="t" r="r" b="b"/>
              <a:pathLst>
                <a:path w="365760" h="243840">
                  <a:moveTo>
                    <a:pt x="0" y="0"/>
                  </a:moveTo>
                  <a:lnTo>
                    <a:pt x="365760" y="0"/>
                  </a:lnTo>
                  <a:lnTo>
                    <a:pt x="365760" y="243840"/>
                  </a:lnTo>
                  <a:lnTo>
                    <a:pt x="0" y="2438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  <p:sp>
          <p:nvSpPr>
            <p:cNvPr id="3" name="Freeform 3"/>
            <p:cNvSpPr/>
            <p:nvPr/>
          </p:nvSpPr>
          <p:spPr>
            <a:xfrm>
              <a:off x="5913120" y="1463040"/>
              <a:ext cx="365760" cy="134302"/>
            </a:xfrm>
            <a:custGeom>
              <a:avLst/>
              <a:gdLst/>
              <a:ahLst/>
              <a:cxnLst/>
              <a:rect l="l" t="t" r="r" b="b"/>
              <a:pathLst>
                <a:path w="365760" h="134302">
                  <a:moveTo>
                    <a:pt x="0" y="0"/>
                  </a:moveTo>
                  <a:lnTo>
                    <a:pt x="182880" y="134302"/>
                  </a:lnTo>
                  <a:lnTo>
                    <a:pt x="365760" y="0"/>
                  </a:lnTo>
                </a:path>
              </a:pathLst>
            </a:custGeom>
            <a:noFill/>
            <a:ln w="36195" cap="rnd">
              <a:solidFill>
                <a:schemeClr val="accent1"/>
              </a:solidFill>
              <a:round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059985" y="2199322"/>
            <a:ext cx="207203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联系我们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27655" y="3293697"/>
            <a:ext cx="3736690" cy="312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invest@reasonix.ai · 微信 aibak2026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438" y="6447472"/>
            <a:ext cx="1050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Reasonix AI · 机密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9084" y="6447472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B949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500" advClick="1">
    <p:fade/>
  </p:transition>
</p:sld>
</file>

<file path=ppt/theme/theme1.xml><?xml version="1.0" encoding="utf-8"?>
<a:theme xmlns:a="http://schemas.openxmlformats.org/drawingml/2006/main" name="project">
  <a:themeElements>
    <a:clrScheme name="project">
      <a:dk1>
        <a:srgbClr val="FFFFFF"/>
      </a:dk1>
      <a:lt1>
        <a:srgbClr val="0D1117"/>
      </a:lt1>
      <a:dk2>
        <a:srgbClr val="FFFFFF"/>
      </a:dk2>
      <a:lt2>
        <a:srgbClr val="0D1117"/>
      </a:lt2>
      <a:accent1>
        <a:srgbClr val="D4A060"/>
      </a:accent1>
      <a:accent2>
        <a:srgbClr val="3FB950"/>
      </a:accent2>
      <a:accent3>
        <a:srgbClr val="3FB950"/>
      </a:accent3>
      <a:accent4>
        <a:srgbClr val="D4A060"/>
      </a:accent4>
      <a:accent5>
        <a:srgbClr val="58A6FF"/>
      </a:accent5>
      <a:accent6>
        <a:srgbClr val="151D2E"/>
      </a:accent6>
      <a:hlink>
        <a:srgbClr val="3FB950"/>
      </a:hlink>
      <a:folHlink>
        <a:srgbClr val="3FB950"/>
      </a:folHlink>
    </a:clrScheme>
    <a:fontScheme name="projec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2026-07-13T20:39:30Z</dcterms:created>
  <dcterms:modified xsi:type="dcterms:W3CDTF">2026-07-13T20:39:30Z</dcterms:modified>
  <cp:category/>
  <cp:contentStatus/>
</cp:coreProperties>
</file>